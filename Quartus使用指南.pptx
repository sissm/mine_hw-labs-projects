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28"/>
  </p:notesMasterIdLst>
  <p:sldIdLst>
    <p:sldId id="256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80"/>
    <a:srgbClr val="0000FF"/>
    <a:srgbClr val="993366"/>
    <a:srgbClr val="CC3300"/>
    <a:srgbClr val="FF33CC"/>
    <a:srgbClr val="FF3300"/>
    <a:srgbClr val="0033CC"/>
    <a:srgbClr val="FF66FF"/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592" autoAdjust="0"/>
  </p:normalViewPr>
  <p:slideViewPr>
    <p:cSldViewPr>
      <p:cViewPr varScale="1">
        <p:scale>
          <a:sx n="87" d="100"/>
          <a:sy n="87" d="100"/>
        </p:scale>
        <p:origin x="168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8F5E1C54-F2C6-4A0A-934C-BB26AB88F8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07114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E8308B72-C12F-489E-89FD-1E2BFEC0E09E}" type="slidenum">
              <a:rPr lang="en-US" altLang="zh-CN" smtClean="0"/>
              <a:pPr eaLnBrk="1" hangingPunct="1"/>
              <a:t>2</a:t>
            </a:fld>
            <a:endParaRPr lang="en-US" altLang="zh-CN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规模较大时，可选择</a:t>
            </a:r>
            <a:r>
              <a:rPr lang="en-US" altLang="zh-CN" dirty="0"/>
              <a:t>Cyclone</a:t>
            </a:r>
            <a:r>
              <a:rPr lang="en-US" altLang="zh-CN" baseline="0" dirty="0"/>
              <a:t> III EP3C16Q240C8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5E1C54-F2C6-4A0A-934C-BB26AB88F8B5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875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设置虚拟引脚方法：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①选择菜单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Assignments-&gt;Assignment Editor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；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②将对话框的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Category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栏选择为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Logic Options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（可点击右侧的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Logic Options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按钮）；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③在对话框的引脚列表中，将所需的引脚改为虚拟引脚；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④每个虚拟引脚的设置方法为：将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Assignment Name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栏改为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Virtual Pin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，将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Value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栏改为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On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，将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Enabled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栏改为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Yes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。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5E1C54-F2C6-4A0A-934C-BB26AB88F8B5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5217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</p:grpSp>
      <p:sp>
        <p:nvSpPr>
          <p:cNvPr id="1025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26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FD014C-2083-45E5-BA5E-D173CB41F1C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1093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B0DA5-8024-4D02-888B-748EAE3AFB1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1743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376F96-AA9E-4440-83FC-4158B3AB575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2773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DD9D40-0A97-43EA-8011-248F8A501A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0167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492335-2957-4C84-8531-C65598BBA0C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7837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2DA4C5-DA9A-4E95-B35A-E4CE0795C94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8459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0EA130-5987-4D35-A6F8-E4466B57357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9422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7D586-15E5-4FAC-9509-3C82393FD5A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2694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AD17C5-D160-4C09-B976-3887EE619D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2337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FF64B2-EDCC-4830-920F-D77BBA90B4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4282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374915-F0FA-457C-BD1C-933522AB1AA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9686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E68309A2-902A-4AC5-83AD-3AB20F68800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9221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222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223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chemeClr val="hlink"/>
                </a:solidFill>
                <a:ea typeface="宋体" pitchFamily="2" charset="-122"/>
              </a:endParaRPr>
            </a:p>
          </p:txBody>
        </p:sp>
        <p:sp>
          <p:nvSpPr>
            <p:cNvPr id="9224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chemeClr val="hlink"/>
                </a:solidFill>
                <a:ea typeface="宋体" pitchFamily="2" charset="-122"/>
              </a:endParaRPr>
            </a:p>
          </p:txBody>
        </p:sp>
        <p:sp>
          <p:nvSpPr>
            <p:cNvPr id="9225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chemeClr val="accent2"/>
                </a:solidFill>
                <a:ea typeface="宋体" pitchFamily="2" charset="-122"/>
              </a:endParaRPr>
            </a:p>
          </p:txBody>
        </p:sp>
        <p:sp>
          <p:nvSpPr>
            <p:cNvPr id="9226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chemeClr val="hlink"/>
                </a:solidFill>
                <a:ea typeface="宋体" pitchFamily="2" charset="-122"/>
              </a:endParaRPr>
            </a:p>
          </p:txBody>
        </p:sp>
        <p:sp>
          <p:nvSpPr>
            <p:cNvPr id="9227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228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chemeClr val="accent2"/>
                </a:solidFill>
                <a:ea typeface="宋体" pitchFamily="2" charset="-122"/>
              </a:endParaRPr>
            </a:p>
          </p:txBody>
        </p:sp>
        <p:sp>
          <p:nvSpPr>
            <p:cNvPr id="9229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chemeClr val="accent2"/>
                </a:solidFill>
                <a:ea typeface="宋体" pitchFamily="2" charset="-122"/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23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Quartus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使用指南</a:t>
            </a:r>
            <a:br>
              <a:rPr lang="en-US" altLang="zh-CN" b="1" dirty="0">
                <a:latin typeface="黑体" pitchFamily="2" charset="-122"/>
                <a:ea typeface="黑体" pitchFamily="2" charset="-122"/>
              </a:rPr>
            </a:br>
            <a:r>
              <a:rPr lang="zh-CN" altLang="en-US" sz="4000" b="1" dirty="0">
                <a:latin typeface="黑体" pitchFamily="2" charset="-122"/>
                <a:ea typeface="黑体" pitchFamily="2" charset="-122"/>
              </a:rPr>
              <a:t>  </a:t>
            </a:r>
            <a:r>
              <a:rPr lang="en-US" altLang="zh-CN" sz="4000" b="1" dirty="0"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sz="4000" b="1" dirty="0">
                <a:latin typeface="黑体" pitchFamily="2" charset="-122"/>
                <a:ea typeface="黑体" pitchFamily="2" charset="-122"/>
              </a:rPr>
              <a:t>基于原理图方式</a:t>
            </a:r>
            <a:r>
              <a:rPr lang="en-US" altLang="zh-CN" sz="4000" b="1" dirty="0">
                <a:latin typeface="黑体" pitchFamily="2" charset="-122"/>
                <a:ea typeface="黑体" pitchFamily="2" charset="-122"/>
              </a:rPr>
              <a:t>)</a:t>
            </a:r>
            <a:endParaRPr lang="zh-CN" altLang="en-US" sz="4000" b="1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419600"/>
            <a:ext cx="6019800" cy="1371600"/>
          </a:xfrm>
        </p:spPr>
        <p:txBody>
          <a:bodyPr/>
          <a:lstStyle/>
          <a:p>
            <a:pPr algn="ctr" eaLnBrk="1" hangingPunct="1"/>
            <a:r>
              <a:rPr lang="zh-CN" altLang="en-US" b="1" dirty="0">
                <a:ea typeface="黑体" pitchFamily="2" charset="-122"/>
              </a:rPr>
              <a:t>东南大学计算机学院</a:t>
            </a:r>
          </a:p>
          <a:p>
            <a:pPr algn="ctr" eaLnBrk="1" hangingPunct="1"/>
            <a:r>
              <a:rPr lang="zh-CN" altLang="en-US" b="1" dirty="0">
                <a:ea typeface="仿宋_GB2312" pitchFamily="49" charset="-122"/>
              </a:rPr>
              <a:t>任国林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286DB858-480F-42C0-AB60-0F67327F0241}" type="slidenum">
              <a:rPr lang="en-US" altLang="zh-CN" smtClean="0">
                <a:latin typeface="Arial Black" pitchFamily="34" charset="0"/>
              </a:rPr>
              <a:pPr eaLnBrk="1" hangingPunct="1"/>
              <a:t>2</a:t>
            </a:fld>
            <a:endParaRPr lang="en-US" altLang="zh-CN">
              <a:latin typeface="Arial Black" pitchFamily="34" charset="0"/>
            </a:endParaRPr>
          </a:p>
        </p:txBody>
      </p:sp>
      <p:sp>
        <p:nvSpPr>
          <p:cNvPr id="4099" name="Text Box 2"/>
          <p:cNvSpPr txBox="1">
            <a:spLocks noChangeArrowheads="1"/>
          </p:cNvSpPr>
          <p:nvPr/>
        </p:nvSpPr>
        <p:spPr bwMode="auto">
          <a:xfrm>
            <a:off x="201613" y="644525"/>
            <a:ext cx="8713787" cy="490519"/>
          </a:xfrm>
          <a:prstGeom prst="rect">
            <a:avLst/>
          </a:prstGeom>
          <a:solidFill>
            <a:srgbClr val="FFCC99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一、建立工程文件</a:t>
            </a:r>
          </a:p>
        </p:txBody>
      </p:sp>
      <p:sp>
        <p:nvSpPr>
          <p:cNvPr id="4101" name="Text Box 4"/>
          <p:cNvSpPr txBox="1">
            <a:spLocks noChangeArrowheads="1"/>
          </p:cNvSpPr>
          <p:nvPr/>
        </p:nvSpPr>
        <p:spPr bwMode="auto">
          <a:xfrm>
            <a:off x="228601" y="1219200"/>
            <a:ext cx="8686800" cy="814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200" b="1" dirty="0">
                <a:latin typeface="宋体" charset="-122"/>
              </a:rPr>
              <a:t>  1)</a:t>
            </a:r>
            <a:r>
              <a:rPr lang="zh-CN" altLang="en-US" sz="2200" b="1" dirty="0">
                <a:latin typeface="宋体" charset="-122"/>
              </a:rPr>
              <a:t>设置工程文件名及工作目录名，完成后单击</a:t>
            </a:r>
            <a:r>
              <a:rPr lang="en-US" altLang="zh-CN" sz="2200" b="1" dirty="0">
                <a:latin typeface="宋体" charset="-122"/>
              </a:rPr>
              <a:t>Next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b="1" dirty="0">
                <a:latin typeface="宋体" charset="-122"/>
              </a:rPr>
              <a:t>     (</a:t>
            </a:r>
            <a:r>
              <a:rPr lang="zh-CN" altLang="en-US" b="1" dirty="0">
                <a:latin typeface="宋体" charset="-122"/>
              </a:rPr>
              <a:t>从菜单</a:t>
            </a:r>
            <a:r>
              <a:rPr lang="en-US" altLang="zh-CN" b="1" dirty="0" err="1">
                <a:latin typeface="宋体" charset="-122"/>
              </a:rPr>
              <a:t>File→New</a:t>
            </a:r>
            <a:r>
              <a:rPr lang="en-US" altLang="zh-CN" b="1" dirty="0">
                <a:latin typeface="宋体" charset="-122"/>
              </a:rPr>
              <a:t> Project Wizard</a:t>
            </a:r>
            <a:r>
              <a:rPr lang="zh-CN" altLang="en-US" b="1" dirty="0">
                <a:latin typeface="宋体" charset="-122"/>
              </a:rPr>
              <a:t>进入</a:t>
            </a:r>
            <a:r>
              <a:rPr lang="en-US" altLang="zh-CN" b="1" dirty="0">
                <a:latin typeface="宋体" charset="-122"/>
              </a:rPr>
              <a:t>)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B0269BB-C803-44E4-833C-C9383E84E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057400"/>
            <a:ext cx="5334000" cy="4419600"/>
          </a:xfrm>
          <a:prstGeom prst="rect">
            <a:avLst/>
          </a:prstGeom>
        </p:spPr>
      </p:pic>
      <p:sp>
        <p:nvSpPr>
          <p:cNvPr id="4100" name="AutoShape 3"/>
          <p:cNvSpPr>
            <a:spLocks noChangeArrowheads="1"/>
          </p:cNvSpPr>
          <p:nvPr/>
        </p:nvSpPr>
        <p:spPr bwMode="auto">
          <a:xfrm>
            <a:off x="6400800" y="2438400"/>
            <a:ext cx="2339035" cy="685800"/>
          </a:xfrm>
          <a:prstGeom prst="wedgeRectCallout">
            <a:avLst>
              <a:gd name="adj1" fmla="val -97627"/>
              <a:gd name="adj2" fmla="val -19392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54000" tIns="10800" rIns="54000" bIns="10800"/>
          <a:lstStyle/>
          <a:p>
            <a:pPr marL="717550" indent="-717550">
              <a:lnSpc>
                <a:spcPct val="115000"/>
              </a:lnSpc>
            </a:pPr>
            <a:r>
              <a:rPr lang="zh-CN" altLang="en-US" b="1" dirty="0">
                <a:latin typeface="宋体" charset="-122"/>
              </a:rPr>
              <a:t>提示：需提前建立好，用</a:t>
            </a:r>
            <a:r>
              <a:rPr lang="en-US" altLang="zh-CN" b="1" dirty="0">
                <a:latin typeface="宋体" charset="-122"/>
              </a:rPr>
              <a:t>…</a:t>
            </a:r>
            <a:r>
              <a:rPr lang="zh-CN" altLang="en-US" b="1" dirty="0">
                <a:latin typeface="宋体" charset="-122"/>
              </a:rPr>
              <a:t>选择</a:t>
            </a:r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89CF4D29-797B-4C0E-92BB-2CA6C81AC6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7765" y="3276600"/>
            <a:ext cx="2186635" cy="685800"/>
          </a:xfrm>
          <a:prstGeom prst="wedgeRectCallout">
            <a:avLst>
              <a:gd name="adj1" fmla="val -96689"/>
              <a:gd name="adj2" fmla="val -71659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54000" tIns="10800" rIns="54000" bIns="10800"/>
          <a:lstStyle/>
          <a:p>
            <a:pPr marL="717550" indent="-717550">
              <a:lnSpc>
                <a:spcPct val="115000"/>
              </a:lnSpc>
            </a:pPr>
            <a:r>
              <a:rPr lang="zh-CN" altLang="en-US" b="1" dirty="0">
                <a:latin typeface="宋体" charset="-122"/>
              </a:rPr>
              <a:t>提示：名称无所谓，与电路无关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1475D101-5496-4002-8E55-ABF2EEECCA31}" type="slidenum">
              <a:rPr lang="en-US" altLang="zh-CN" smtClean="0">
                <a:latin typeface="Arial Black" pitchFamily="34" charset="0"/>
              </a:rPr>
              <a:pPr eaLnBrk="1" hangingPunct="1"/>
              <a:t>3</a:t>
            </a:fld>
            <a:endParaRPr lang="en-US" altLang="zh-CN" dirty="0">
              <a:latin typeface="Arial Black" pitchFamily="34" charset="0"/>
            </a:endParaRPr>
          </a:p>
        </p:txBody>
      </p:sp>
      <p:sp>
        <p:nvSpPr>
          <p:cNvPr id="5123" name="Text Box 2"/>
          <p:cNvSpPr txBox="1">
            <a:spLocks noChangeArrowheads="1"/>
          </p:cNvSpPr>
          <p:nvPr/>
        </p:nvSpPr>
        <p:spPr bwMode="auto">
          <a:xfrm>
            <a:off x="201613" y="549275"/>
            <a:ext cx="8713787" cy="457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200" b="1" dirty="0">
                <a:latin typeface="宋体" charset="-122"/>
              </a:rPr>
              <a:t>  2)</a:t>
            </a:r>
            <a:r>
              <a:rPr lang="zh-CN" altLang="en-US" sz="2200" b="1" dirty="0">
                <a:latin typeface="宋体" charset="-122"/>
              </a:rPr>
              <a:t>添加所需源文件到工程文件中，完成后单击</a:t>
            </a:r>
            <a:r>
              <a:rPr lang="en-US" altLang="zh-CN" sz="2200" b="1" dirty="0">
                <a:latin typeface="宋体" charset="-122"/>
              </a:rPr>
              <a:t>Next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860982E-8DE3-42BB-83E1-39702F890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66800"/>
            <a:ext cx="4734075" cy="5486400"/>
          </a:xfrm>
          <a:prstGeom prst="rect">
            <a:avLst/>
          </a:prstGeom>
        </p:spPr>
      </p:pic>
      <p:sp>
        <p:nvSpPr>
          <p:cNvPr id="5124" name="AutoShape 3"/>
          <p:cNvSpPr>
            <a:spLocks noChangeArrowheads="1"/>
          </p:cNvSpPr>
          <p:nvPr/>
        </p:nvSpPr>
        <p:spPr bwMode="auto">
          <a:xfrm>
            <a:off x="5867400" y="2133600"/>
            <a:ext cx="3048000" cy="3200400"/>
          </a:xfrm>
          <a:prstGeom prst="wedgeRectCallout">
            <a:avLst>
              <a:gd name="adj1" fmla="val -115360"/>
              <a:gd name="adj2" fmla="val -40899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54000" tIns="10800" rIns="54000" bIns="10800"/>
          <a:lstStyle/>
          <a:p>
            <a:pPr>
              <a:lnSpc>
                <a:spcPct val="115000"/>
              </a:lnSpc>
            </a:pPr>
            <a:r>
              <a:rPr lang="zh-CN" altLang="en-US" b="1" dirty="0">
                <a:latin typeface="宋体" charset="-122"/>
              </a:rPr>
              <a:t>提示：</a:t>
            </a:r>
          </a:p>
          <a:p>
            <a:pPr>
              <a:lnSpc>
                <a:spcPct val="115000"/>
              </a:lnSpc>
            </a:pPr>
            <a:r>
              <a:rPr lang="zh-CN" altLang="en-US" b="1" dirty="0">
                <a:latin typeface="宋体" charset="-122"/>
              </a:rPr>
              <a:t>  *应预先将文件</a:t>
            </a:r>
            <a:r>
              <a:rPr lang="zh-CN" altLang="en-US" b="1" u="sng" dirty="0">
                <a:latin typeface="宋体" charset="-122"/>
              </a:rPr>
              <a:t>拷贝</a:t>
            </a:r>
            <a:r>
              <a:rPr lang="zh-CN" altLang="en-US" b="1" dirty="0">
                <a:latin typeface="宋体" charset="-122"/>
              </a:rPr>
              <a:t>到工作目录中</a:t>
            </a:r>
            <a:r>
              <a:rPr lang="en-US" altLang="zh-CN" b="1" dirty="0">
                <a:latin typeface="宋体" charset="-122"/>
              </a:rPr>
              <a:t>(</a:t>
            </a:r>
            <a:r>
              <a:rPr lang="zh-CN" altLang="en-US" b="1" dirty="0">
                <a:latin typeface="宋体" charset="-122"/>
              </a:rPr>
              <a:t>避免因路径问题导致错误</a:t>
            </a:r>
            <a:r>
              <a:rPr lang="en-US" altLang="zh-CN" b="1" dirty="0">
                <a:latin typeface="宋体" charset="-122"/>
              </a:rPr>
              <a:t>)</a:t>
            </a:r>
            <a:endParaRPr lang="zh-CN" altLang="en-US" b="1" dirty="0">
              <a:latin typeface="宋体" charset="-122"/>
            </a:endParaRPr>
          </a:p>
          <a:p>
            <a:pPr>
              <a:lnSpc>
                <a:spcPct val="115000"/>
              </a:lnSpc>
            </a:pPr>
            <a:r>
              <a:rPr lang="zh-CN" altLang="en-US" b="1" dirty="0">
                <a:latin typeface="宋体" charset="-122"/>
              </a:rPr>
              <a:t>  *打开工程文件状态下，新建文件自动加入工程文件</a:t>
            </a:r>
            <a:endParaRPr lang="en-US" altLang="zh-CN" b="1" dirty="0">
              <a:latin typeface="宋体" charset="-122"/>
            </a:endParaRPr>
          </a:p>
          <a:p>
            <a:pPr>
              <a:lnSpc>
                <a:spcPct val="115000"/>
              </a:lnSpc>
            </a:pPr>
            <a:r>
              <a:rPr lang="en-US" altLang="zh-CN" b="1" dirty="0">
                <a:latin typeface="宋体" charset="-122"/>
              </a:rPr>
              <a:t>  </a:t>
            </a:r>
            <a:r>
              <a:rPr lang="zh-CN" altLang="en-US" b="1" dirty="0">
                <a:latin typeface="宋体" charset="-122"/>
              </a:rPr>
              <a:t>*打开工程文件状态下，已有文件的</a:t>
            </a:r>
            <a:r>
              <a:rPr lang="zh-CN" altLang="en-US" b="1" dirty="0">
                <a:latin typeface="+mn-ea"/>
                <a:ea typeface="+mn-ea"/>
              </a:rPr>
              <a:t>添加</a:t>
            </a:r>
            <a:r>
              <a:rPr lang="en-US" altLang="zh-CN" b="1" dirty="0">
                <a:latin typeface="+mn-ea"/>
                <a:ea typeface="+mn-ea"/>
              </a:rPr>
              <a:t>/</a:t>
            </a:r>
            <a:r>
              <a:rPr lang="zh-CN" altLang="en-US" b="1" dirty="0">
                <a:latin typeface="+mn-ea"/>
                <a:ea typeface="+mn-ea"/>
              </a:rPr>
              <a:t>删除</a:t>
            </a:r>
            <a:r>
              <a:rPr lang="zh-CN" altLang="en-US" b="1" dirty="0">
                <a:latin typeface="宋体" charset="-122"/>
              </a:rPr>
              <a:t>可通过</a:t>
            </a:r>
            <a:r>
              <a:rPr lang="zh-CN" altLang="zh-CN" b="1" dirty="0">
                <a:latin typeface="+mn-ea"/>
                <a:ea typeface="+mn-ea"/>
              </a:rPr>
              <a:t>菜单</a:t>
            </a:r>
            <a:r>
              <a:rPr lang="en-US" altLang="zh-CN" b="1" dirty="0">
                <a:latin typeface="+mn-ea"/>
                <a:ea typeface="+mn-ea"/>
              </a:rPr>
              <a:t>Add/Remove File in Project</a:t>
            </a:r>
            <a:r>
              <a:rPr lang="zh-CN" altLang="en-US" b="1" dirty="0">
                <a:latin typeface="+mn-ea"/>
                <a:ea typeface="+mn-ea"/>
              </a:rPr>
              <a:t>实现</a:t>
            </a:r>
            <a:endParaRPr lang="en-US" altLang="zh-CN" b="1" dirty="0">
              <a:latin typeface="+mn-ea"/>
              <a:ea typeface="+mn-ea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640D5863-C27A-4472-B19B-38584C9C9FB1}" type="slidenum">
              <a:rPr lang="en-US" altLang="zh-CN" smtClean="0">
                <a:latin typeface="Arial Black" pitchFamily="34" charset="0"/>
              </a:rPr>
              <a:pPr eaLnBrk="1" hangingPunct="1"/>
              <a:t>4</a:t>
            </a:fld>
            <a:endParaRPr lang="en-US" altLang="zh-CN">
              <a:latin typeface="Arial Black" pitchFamily="34" charset="0"/>
            </a:endParaRPr>
          </a:p>
        </p:txBody>
      </p:sp>
      <p:sp>
        <p:nvSpPr>
          <p:cNvPr id="6147" name="Text Box 2"/>
          <p:cNvSpPr txBox="1">
            <a:spLocks noChangeArrowheads="1"/>
          </p:cNvSpPr>
          <p:nvPr/>
        </p:nvSpPr>
        <p:spPr bwMode="auto">
          <a:xfrm>
            <a:off x="201613" y="549275"/>
            <a:ext cx="8713787" cy="457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200" b="1" dirty="0">
                <a:latin typeface="宋体" charset="-122"/>
              </a:rPr>
              <a:t>  3)</a:t>
            </a:r>
            <a:r>
              <a:rPr lang="zh-CN" altLang="en-US" sz="2200" b="1" dirty="0">
                <a:latin typeface="宋体" charset="-122"/>
              </a:rPr>
              <a:t>选择工程文件所用</a:t>
            </a:r>
            <a:r>
              <a:rPr lang="en-US" altLang="zh-CN" sz="2200" b="1" dirty="0">
                <a:latin typeface="宋体" charset="-122"/>
              </a:rPr>
              <a:t>FPGA</a:t>
            </a:r>
            <a:r>
              <a:rPr lang="zh-CN" altLang="en-US" sz="2200" b="1" dirty="0">
                <a:latin typeface="宋体" charset="-122"/>
              </a:rPr>
              <a:t>芯片型号，完成后单击</a:t>
            </a:r>
            <a:r>
              <a:rPr lang="en-US" altLang="zh-CN" sz="2200" b="1" dirty="0">
                <a:latin typeface="宋体" charset="-122"/>
              </a:rPr>
              <a:t>Next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4E61B58-C6E9-465D-91A6-B1815B1C0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076153"/>
            <a:ext cx="4648200" cy="5400847"/>
          </a:xfrm>
          <a:prstGeom prst="rect">
            <a:avLst/>
          </a:prstGeom>
        </p:spPr>
      </p:pic>
      <p:sp>
        <p:nvSpPr>
          <p:cNvPr id="6149" name="AutoShape 4"/>
          <p:cNvSpPr>
            <a:spLocks noChangeArrowheads="1"/>
          </p:cNvSpPr>
          <p:nvPr/>
        </p:nvSpPr>
        <p:spPr bwMode="auto">
          <a:xfrm>
            <a:off x="5867400" y="2895600"/>
            <a:ext cx="2971800" cy="1922462"/>
          </a:xfrm>
          <a:prstGeom prst="wedgeRectCallout">
            <a:avLst>
              <a:gd name="adj1" fmla="val -95779"/>
              <a:gd name="adj2" fmla="val 34919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54000" tIns="10800" rIns="54000" bIns="10800"/>
          <a:lstStyle/>
          <a:p>
            <a:pPr>
              <a:lnSpc>
                <a:spcPct val="115000"/>
              </a:lnSpc>
            </a:pPr>
            <a:r>
              <a:rPr lang="zh-CN" altLang="en-US" b="1" dirty="0">
                <a:latin typeface="宋体" charset="-122"/>
              </a:rPr>
              <a:t>提示：</a:t>
            </a:r>
          </a:p>
          <a:p>
            <a:pPr>
              <a:lnSpc>
                <a:spcPct val="115000"/>
              </a:lnSpc>
            </a:pPr>
            <a:r>
              <a:rPr lang="zh-CN" altLang="en-US" b="1" dirty="0">
                <a:latin typeface="宋体" charset="-122"/>
              </a:rPr>
              <a:t>  *电路下载到试验台时，与之密切</a:t>
            </a:r>
          </a:p>
          <a:p>
            <a:pPr>
              <a:lnSpc>
                <a:spcPct val="115000"/>
              </a:lnSpc>
            </a:pPr>
            <a:r>
              <a:rPr lang="zh-CN" altLang="en-US" b="1" dirty="0">
                <a:latin typeface="宋体" charset="-122"/>
              </a:rPr>
              <a:t>  *可选择</a:t>
            </a:r>
            <a:r>
              <a:rPr lang="en-US" altLang="zh-CN" b="1" dirty="0">
                <a:latin typeface="宋体" charset="-122"/>
              </a:rPr>
              <a:t>Cyclone III</a:t>
            </a:r>
            <a:r>
              <a:rPr lang="zh-CN" altLang="en-US" b="1" dirty="0">
                <a:latin typeface="宋体" charset="-122"/>
              </a:rPr>
              <a:t>系列的</a:t>
            </a:r>
            <a:r>
              <a:rPr lang="en-US" altLang="zh-CN" b="1" dirty="0">
                <a:latin typeface="宋体" charset="-122"/>
              </a:rPr>
              <a:t>EP3C16Q240C8(</a:t>
            </a:r>
            <a:r>
              <a:rPr lang="zh-CN" altLang="en-US" b="1" dirty="0">
                <a:latin typeface="宋体" charset="-122"/>
              </a:rPr>
              <a:t>门及引脚数够用了</a:t>
            </a:r>
            <a:r>
              <a:rPr lang="en-US" altLang="zh-CN" b="1" dirty="0">
                <a:latin typeface="宋体" charset="-122"/>
              </a:rPr>
              <a:t>)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2B62E2BB-2DC5-4C2A-A17C-7A2DB038591C}" type="slidenum">
              <a:rPr lang="en-US" altLang="zh-CN" smtClean="0">
                <a:latin typeface="Arial Black" pitchFamily="34" charset="0"/>
              </a:rPr>
              <a:pPr eaLnBrk="1" hangingPunct="1"/>
              <a:t>5</a:t>
            </a:fld>
            <a:endParaRPr lang="en-US" altLang="zh-CN">
              <a:latin typeface="Arial Black" pitchFamily="34" charset="0"/>
            </a:endParaRPr>
          </a:p>
        </p:txBody>
      </p:sp>
      <p:sp>
        <p:nvSpPr>
          <p:cNvPr id="7171" name="Text Box 2"/>
          <p:cNvSpPr txBox="1">
            <a:spLocks noChangeArrowheads="1"/>
          </p:cNvSpPr>
          <p:nvPr/>
        </p:nvSpPr>
        <p:spPr bwMode="auto">
          <a:xfrm>
            <a:off x="201613" y="549275"/>
            <a:ext cx="8713787" cy="457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200" b="1" dirty="0">
                <a:latin typeface="宋体" charset="-122"/>
              </a:rPr>
              <a:t>  4)</a:t>
            </a:r>
            <a:r>
              <a:rPr lang="zh-CN" altLang="en-US" sz="2200" b="1" dirty="0">
                <a:latin typeface="宋体" charset="-122"/>
              </a:rPr>
              <a:t>添加准备使用的新</a:t>
            </a:r>
            <a:r>
              <a:rPr lang="en-US" altLang="zh-CN" sz="2200" b="1" dirty="0">
                <a:latin typeface="宋体" charset="-122"/>
              </a:rPr>
              <a:t>EDA</a:t>
            </a:r>
            <a:r>
              <a:rPr lang="zh-CN" altLang="en-US" sz="2200" b="1" dirty="0">
                <a:latin typeface="宋体" charset="-122"/>
              </a:rPr>
              <a:t>工具，完成后单击</a:t>
            </a:r>
            <a:r>
              <a:rPr lang="en-US" altLang="zh-CN" sz="2200" b="1" dirty="0">
                <a:latin typeface="宋体" charset="-122"/>
              </a:rPr>
              <a:t>Next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D9531C8-F70C-4E4F-BF0D-B4CD900E1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091" y="1066800"/>
            <a:ext cx="5293709" cy="5486400"/>
          </a:xfrm>
          <a:prstGeom prst="rect">
            <a:avLst/>
          </a:prstGeom>
        </p:spPr>
      </p:pic>
      <p:sp>
        <p:nvSpPr>
          <p:cNvPr id="7173" name="AutoShape 4"/>
          <p:cNvSpPr>
            <a:spLocks noChangeArrowheads="1"/>
          </p:cNvSpPr>
          <p:nvPr/>
        </p:nvSpPr>
        <p:spPr bwMode="auto">
          <a:xfrm>
            <a:off x="6248400" y="2438400"/>
            <a:ext cx="2590800" cy="1066800"/>
          </a:xfrm>
          <a:prstGeom prst="wedgeRectCallout">
            <a:avLst>
              <a:gd name="adj1" fmla="val -84452"/>
              <a:gd name="adj2" fmla="val -66426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54000" tIns="10800" rIns="54000" bIns="10800"/>
          <a:lstStyle/>
          <a:p>
            <a:pPr>
              <a:lnSpc>
                <a:spcPct val="115000"/>
              </a:lnSpc>
            </a:pPr>
            <a:r>
              <a:rPr lang="zh-CN" altLang="en-US" b="1" dirty="0">
                <a:latin typeface="宋体" charset="-122"/>
              </a:rPr>
              <a:t>提示：</a:t>
            </a:r>
          </a:p>
          <a:p>
            <a:pPr>
              <a:lnSpc>
                <a:spcPct val="115000"/>
              </a:lnSpc>
            </a:pPr>
            <a:r>
              <a:rPr lang="zh-CN" altLang="en-US" b="1" dirty="0">
                <a:latin typeface="宋体" charset="-122"/>
              </a:rPr>
              <a:t>  通常只需使用</a:t>
            </a:r>
            <a:r>
              <a:rPr lang="en-US" altLang="zh-CN" b="1" dirty="0" err="1">
                <a:latin typeface="宋体" charset="-122"/>
              </a:rPr>
              <a:t>Quartus</a:t>
            </a:r>
            <a:r>
              <a:rPr lang="zh-CN" altLang="en-US" b="1" dirty="0">
                <a:latin typeface="宋体" charset="-122"/>
              </a:rPr>
              <a:t>提供的</a:t>
            </a:r>
            <a:r>
              <a:rPr lang="en-US" altLang="zh-CN" b="1" dirty="0">
                <a:latin typeface="宋体" charset="-122"/>
              </a:rPr>
              <a:t>EDA</a:t>
            </a:r>
            <a:r>
              <a:rPr lang="zh-CN" altLang="en-US" b="1" dirty="0">
                <a:latin typeface="宋体" charset="-122"/>
              </a:rPr>
              <a:t>工具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EF346AE1-C5C1-4A50-8561-3085E85DFDA4}" type="slidenum">
              <a:rPr lang="en-US" altLang="zh-CN" smtClean="0">
                <a:latin typeface="Arial Black" pitchFamily="34" charset="0"/>
              </a:rPr>
              <a:pPr eaLnBrk="1" hangingPunct="1"/>
              <a:t>6</a:t>
            </a:fld>
            <a:endParaRPr lang="en-US" altLang="zh-CN">
              <a:latin typeface="Arial Black" pitchFamily="34" charset="0"/>
            </a:endParaRPr>
          </a:p>
        </p:txBody>
      </p:sp>
      <p:sp>
        <p:nvSpPr>
          <p:cNvPr id="8195" name="Text Box 2"/>
          <p:cNvSpPr txBox="1">
            <a:spLocks noChangeArrowheads="1"/>
          </p:cNvSpPr>
          <p:nvPr/>
        </p:nvSpPr>
        <p:spPr bwMode="auto">
          <a:xfrm>
            <a:off x="201613" y="549275"/>
            <a:ext cx="8713787" cy="457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200" b="1" dirty="0">
                <a:latin typeface="宋体" charset="-122"/>
              </a:rPr>
              <a:t>  5)</a:t>
            </a:r>
            <a:r>
              <a:rPr lang="zh-CN" altLang="en-US" sz="2200" b="1" dirty="0">
                <a:latin typeface="宋体" charset="-122"/>
              </a:rPr>
              <a:t>确认所设置信息的正确性，完成后单击</a:t>
            </a:r>
            <a:r>
              <a:rPr lang="en-US" altLang="zh-CN" sz="2200" b="1" dirty="0">
                <a:latin typeface="宋体" charset="-122"/>
              </a:rPr>
              <a:t>Finish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28B56B7-6733-4BF4-BB64-CCA65A316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442" y="1066628"/>
            <a:ext cx="4318958" cy="5242097"/>
          </a:xfrm>
          <a:prstGeom prst="rect">
            <a:avLst/>
          </a:prstGeom>
        </p:spPr>
      </p:pic>
      <p:sp>
        <p:nvSpPr>
          <p:cNvPr id="8197" name="AutoShape 4"/>
          <p:cNvSpPr>
            <a:spLocks noChangeArrowheads="1"/>
          </p:cNvSpPr>
          <p:nvPr/>
        </p:nvSpPr>
        <p:spPr bwMode="auto">
          <a:xfrm>
            <a:off x="5410200" y="4038600"/>
            <a:ext cx="3429000" cy="1981200"/>
          </a:xfrm>
          <a:prstGeom prst="wedgeRectCallout">
            <a:avLst>
              <a:gd name="adj1" fmla="val -86764"/>
              <a:gd name="adj2" fmla="val 54610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54000" tIns="10800" rIns="54000" bIns="10800"/>
          <a:lstStyle/>
          <a:p>
            <a:pPr>
              <a:lnSpc>
                <a:spcPct val="115000"/>
              </a:lnSpc>
            </a:pPr>
            <a:r>
              <a:rPr lang="zh-CN" altLang="en-US" b="1" dirty="0">
                <a:latin typeface="宋体" charset="-122"/>
              </a:rPr>
              <a:t>提示：</a:t>
            </a:r>
          </a:p>
          <a:p>
            <a:pPr>
              <a:lnSpc>
                <a:spcPct val="115000"/>
              </a:lnSpc>
            </a:pPr>
            <a:r>
              <a:rPr lang="zh-CN" altLang="en-US" b="1" dirty="0">
                <a:latin typeface="宋体" charset="-122"/>
              </a:rPr>
              <a:t>  *此时建立的只是一个空的工程文件</a:t>
            </a:r>
            <a:r>
              <a:rPr lang="en-US" altLang="zh-CN" b="1" dirty="0">
                <a:latin typeface="宋体" charset="-122"/>
              </a:rPr>
              <a:t>(</a:t>
            </a:r>
            <a:r>
              <a:rPr lang="zh-CN" altLang="en-US" b="1" dirty="0">
                <a:latin typeface="宋体" charset="-122"/>
              </a:rPr>
              <a:t>与电路无关</a:t>
            </a:r>
            <a:r>
              <a:rPr lang="en-US" altLang="zh-CN" b="1" dirty="0">
                <a:latin typeface="宋体" charset="-122"/>
              </a:rPr>
              <a:t>)</a:t>
            </a:r>
          </a:p>
          <a:p>
            <a:pPr>
              <a:lnSpc>
                <a:spcPct val="115000"/>
              </a:lnSpc>
            </a:pPr>
            <a:r>
              <a:rPr lang="en-US" altLang="zh-CN" b="1" dirty="0">
                <a:latin typeface="宋体" charset="-122"/>
              </a:rPr>
              <a:t>  </a:t>
            </a:r>
            <a:r>
              <a:rPr lang="zh-CN" altLang="en-US" b="1" dirty="0">
                <a:latin typeface="宋体" charset="-122"/>
              </a:rPr>
              <a:t>*</a:t>
            </a:r>
            <a:r>
              <a:rPr lang="en-US" altLang="zh-CN" b="1" dirty="0" err="1">
                <a:latin typeface="宋体" charset="-122"/>
              </a:rPr>
              <a:t>Quartus</a:t>
            </a:r>
            <a:r>
              <a:rPr lang="zh-CN" altLang="en-US" b="1" dirty="0">
                <a:latin typeface="宋体" charset="-122"/>
              </a:rPr>
              <a:t>允许执行工程文件中的</a:t>
            </a:r>
            <a:r>
              <a:rPr lang="zh-CN" altLang="en-US" b="1" u="sng" dirty="0">
                <a:latin typeface="宋体" charset="-122"/>
              </a:rPr>
              <a:t>任一</a:t>
            </a:r>
            <a:r>
              <a:rPr lang="zh-CN" altLang="en-US" b="1" dirty="0">
                <a:latin typeface="宋体" charset="-122"/>
              </a:rPr>
              <a:t>电路文件</a:t>
            </a:r>
            <a:r>
              <a:rPr lang="en-US" altLang="zh-CN" b="1" dirty="0">
                <a:latin typeface="宋体" charset="-122"/>
              </a:rPr>
              <a:t>(</a:t>
            </a:r>
            <a:r>
              <a:rPr lang="zh-CN" altLang="en-US" b="1" dirty="0">
                <a:latin typeface="宋体" charset="-122"/>
              </a:rPr>
              <a:t>类似于</a:t>
            </a:r>
            <a:r>
              <a:rPr lang="en-US" altLang="zh-CN" b="1" dirty="0">
                <a:latin typeface="宋体" charset="-122"/>
              </a:rPr>
              <a:t>C</a:t>
            </a:r>
            <a:r>
              <a:rPr lang="zh-CN" altLang="en-US" b="1" dirty="0">
                <a:latin typeface="宋体" charset="-122"/>
              </a:rPr>
              <a:t>语言的</a:t>
            </a:r>
            <a:r>
              <a:rPr lang="en-US" altLang="zh-CN" b="1" dirty="0">
                <a:latin typeface="宋体" charset="-122"/>
              </a:rPr>
              <a:t>main()</a:t>
            </a:r>
            <a:r>
              <a:rPr lang="zh-CN" altLang="en-US" b="1" dirty="0">
                <a:latin typeface="宋体" charset="-122"/>
              </a:rPr>
              <a:t>可以指定</a:t>
            </a:r>
            <a:r>
              <a:rPr lang="en-US" altLang="zh-CN" b="1" dirty="0">
                <a:latin typeface="宋体" charset="-122"/>
              </a:rPr>
              <a:t>)</a:t>
            </a:r>
            <a:endParaRPr lang="zh-CN" altLang="en-US" b="1" dirty="0">
              <a:latin typeface="宋体" charset="-12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A53C933F-FBE9-45F8-9467-1FB9CF634EFE}" type="slidenum">
              <a:rPr lang="en-US" altLang="zh-CN" smtClean="0">
                <a:latin typeface="Arial Black" pitchFamily="34" charset="0"/>
              </a:rPr>
              <a:pPr eaLnBrk="1" hangingPunct="1"/>
              <a:t>7</a:t>
            </a:fld>
            <a:endParaRPr lang="en-US" altLang="zh-CN">
              <a:latin typeface="Arial Black" pitchFamily="34" charset="0"/>
            </a:endParaRPr>
          </a:p>
        </p:txBody>
      </p:sp>
      <p:sp>
        <p:nvSpPr>
          <p:cNvPr id="9219" name="Text Box 2"/>
          <p:cNvSpPr txBox="1">
            <a:spLocks noChangeArrowheads="1"/>
          </p:cNvSpPr>
          <p:nvPr/>
        </p:nvSpPr>
        <p:spPr bwMode="auto">
          <a:xfrm>
            <a:off x="201613" y="714375"/>
            <a:ext cx="8740775" cy="490519"/>
          </a:xfrm>
          <a:prstGeom prst="rect">
            <a:avLst/>
          </a:prstGeom>
          <a:solidFill>
            <a:srgbClr val="FFCC99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二、编辑原理图文件</a:t>
            </a:r>
          </a:p>
        </p:txBody>
      </p:sp>
      <p:sp>
        <p:nvSpPr>
          <p:cNvPr id="9220" name="Text Box 3"/>
          <p:cNvSpPr txBox="1">
            <a:spLocks noChangeArrowheads="1"/>
          </p:cNvSpPr>
          <p:nvPr/>
        </p:nvSpPr>
        <p:spPr bwMode="auto">
          <a:xfrm>
            <a:off x="228600" y="1295400"/>
            <a:ext cx="8713788" cy="1303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charset="-122"/>
              </a:rPr>
              <a:t>1</a:t>
            </a:r>
            <a:r>
              <a:rPr lang="zh-CN" altLang="en-US" sz="2200" b="1" dirty="0">
                <a:solidFill>
                  <a:srgbClr val="FF3399"/>
                </a:solidFill>
                <a:latin typeface="宋体" charset="-122"/>
              </a:rPr>
              <a:t>、建立原理图文件</a:t>
            </a:r>
            <a:r>
              <a:rPr lang="zh-CN" altLang="en-US" sz="2200" b="1" dirty="0">
                <a:latin typeface="宋体" charset="-122"/>
              </a:rPr>
              <a:t> 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200" b="1" dirty="0">
                <a:latin typeface="宋体" charset="-122"/>
              </a:rPr>
              <a:t>   从菜单</a:t>
            </a:r>
            <a:r>
              <a:rPr lang="en-US" altLang="zh-CN" sz="2200" b="1" dirty="0" err="1">
                <a:latin typeface="宋体" charset="-122"/>
              </a:rPr>
              <a:t>File→New</a:t>
            </a:r>
            <a:r>
              <a:rPr lang="zh-CN" altLang="en-US" sz="2200" b="1" dirty="0">
                <a:latin typeface="宋体" charset="-122"/>
              </a:rPr>
              <a:t>进入，在文件类型中选择</a:t>
            </a:r>
            <a:r>
              <a:rPr lang="zh-CN" altLang="en-US" sz="2200" b="1" u="sng" dirty="0">
                <a:solidFill>
                  <a:srgbClr val="0000FF"/>
                </a:solidFill>
                <a:latin typeface="宋体" charset="-122"/>
              </a:rPr>
              <a:t>原理图文件</a:t>
            </a:r>
            <a:r>
              <a:rPr lang="zh-CN" altLang="en-US" sz="2200" b="1" dirty="0">
                <a:latin typeface="宋体" charset="-122"/>
              </a:rPr>
              <a:t>，单击</a:t>
            </a:r>
            <a:r>
              <a:rPr lang="en-US" altLang="zh-CN" sz="2200" b="1" dirty="0">
                <a:latin typeface="宋体" charset="-122"/>
              </a:rPr>
              <a:t>OK</a:t>
            </a:r>
            <a:r>
              <a:rPr lang="zh-CN" altLang="en-US" sz="2200" b="1" dirty="0">
                <a:latin typeface="宋体" charset="-122"/>
              </a:rPr>
              <a:t>，即可进入原理图文件编辑器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95025DF-AEC2-465A-94C8-BE3DEF204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718922"/>
            <a:ext cx="3693829" cy="383427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B75B985-A98D-4A64-A28F-6F6F9A180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973" y="2718921"/>
            <a:ext cx="3171227" cy="3834279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BABAA401-BFC0-4A2C-834C-D5C623EF2CDD}" type="slidenum">
              <a:rPr lang="en-US" altLang="zh-CN" smtClean="0">
                <a:latin typeface="Arial Black" pitchFamily="34" charset="0"/>
              </a:rPr>
              <a:pPr eaLnBrk="1" hangingPunct="1"/>
              <a:t>8</a:t>
            </a:fld>
            <a:endParaRPr lang="en-US" altLang="zh-CN">
              <a:latin typeface="Arial Black" pitchFamily="34" charset="0"/>
            </a:endParaRPr>
          </a:p>
        </p:txBody>
      </p:sp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179388" y="549275"/>
            <a:ext cx="8812212" cy="1303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2200" b="1" dirty="0">
                <a:solidFill>
                  <a:srgbClr val="FF3399"/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lang="zh-CN" altLang="en-US" sz="2200" b="1" dirty="0">
                <a:solidFill>
                  <a:srgbClr val="FF3399"/>
                </a:solidFill>
                <a:latin typeface="宋体" pitchFamily="2" charset="-122"/>
                <a:ea typeface="宋体" pitchFamily="2" charset="-122"/>
              </a:rPr>
              <a:t>、编辑电路</a:t>
            </a:r>
          </a:p>
          <a:p>
            <a:pPr>
              <a:lnSpc>
                <a:spcPct val="125000"/>
              </a:lnSpc>
              <a:defRPr/>
            </a:pPr>
            <a:r>
              <a:rPr lang="zh-CN" altLang="en-US" sz="2200" b="1" dirty="0">
                <a:solidFill>
                  <a:srgbClr val="CC3300"/>
                </a:solidFill>
                <a:latin typeface="宋体" pitchFamily="2" charset="-122"/>
                <a:ea typeface="宋体" pitchFamily="2" charset="-122"/>
              </a:rPr>
              <a:t>⑴元件的选用与放置</a:t>
            </a:r>
          </a:p>
          <a:p>
            <a:pPr>
              <a:lnSpc>
                <a:spcPct val="125000"/>
              </a:lnSpc>
              <a:defRPr/>
            </a:pPr>
            <a:r>
              <a:rPr lang="zh-CN" altLang="en-US" sz="2200" b="1" dirty="0">
                <a:solidFill>
                  <a:srgbClr val="800080"/>
                </a:solidFill>
                <a:latin typeface="宋体" pitchFamily="2" charset="-122"/>
                <a:ea typeface="宋体" pitchFamily="2" charset="-122"/>
              </a:rPr>
              <a:t>   *选用方法</a:t>
            </a:r>
            <a:r>
              <a:rPr lang="en-US" altLang="zh-CN" sz="2200" b="1" dirty="0">
                <a:solidFill>
                  <a:srgbClr val="800080"/>
                </a:solidFill>
                <a:latin typeface="宋体" pitchFamily="2" charset="-122"/>
                <a:ea typeface="宋体" pitchFamily="2" charset="-122"/>
              </a:rPr>
              <a:t>1</a:t>
            </a:r>
            <a:r>
              <a:rPr lang="zh-CN" altLang="en-US" sz="2200" b="1" dirty="0">
                <a:solidFill>
                  <a:srgbClr val="800080"/>
                </a:solidFill>
                <a:latin typeface="宋体" pitchFamily="2" charset="-122"/>
                <a:ea typeface="宋体" pitchFamily="2" charset="-122"/>
              </a:rPr>
              <a:t>：</a:t>
            </a:r>
            <a:r>
              <a:rPr lang="zh-CN" altLang="en-US" sz="2200" b="1" dirty="0">
                <a:latin typeface="宋体" pitchFamily="2" charset="-122"/>
                <a:ea typeface="宋体" pitchFamily="2" charset="-122"/>
              </a:rPr>
              <a:t>在</a:t>
            </a:r>
            <a:r>
              <a:rPr lang="en-US" altLang="zh-CN" sz="2200" b="1" dirty="0">
                <a:latin typeface="宋体" pitchFamily="2" charset="-122"/>
                <a:ea typeface="宋体" pitchFamily="2" charset="-122"/>
              </a:rPr>
              <a:t>Symbol</a:t>
            </a:r>
            <a:r>
              <a:rPr lang="zh-CN" altLang="en-US" sz="2200" b="1" dirty="0">
                <a:latin typeface="宋体" pitchFamily="2" charset="-122"/>
                <a:ea typeface="宋体" pitchFamily="2" charset="-122"/>
              </a:rPr>
              <a:t>对话框</a:t>
            </a:r>
            <a:r>
              <a:rPr lang="en-US" altLang="zh-CN" sz="2200" b="1" dirty="0">
                <a:latin typeface="宋体" pitchFamily="2" charset="-122"/>
                <a:ea typeface="宋体" pitchFamily="2" charset="-122"/>
              </a:rPr>
              <a:t>(</a:t>
            </a:r>
            <a:r>
              <a:rPr lang="zh-CN" altLang="en-US" sz="2200" b="1" dirty="0">
                <a:latin typeface="宋体" pitchFamily="2" charset="-122"/>
                <a:ea typeface="宋体" pitchFamily="2" charset="-122"/>
              </a:rPr>
              <a:t>通过</a:t>
            </a:r>
            <a:r>
              <a:rPr lang="en-US" altLang="zh-CN" sz="2200" b="1" dirty="0">
                <a:latin typeface="宋体" pitchFamily="2" charset="-122"/>
                <a:ea typeface="宋体" pitchFamily="2" charset="-122"/>
              </a:rPr>
              <a:t>symbol Tool</a:t>
            </a:r>
            <a:r>
              <a:rPr lang="zh-CN" altLang="en-US" sz="2200" b="1" dirty="0">
                <a:latin typeface="宋体" pitchFamily="2" charset="-122"/>
                <a:ea typeface="宋体" pitchFamily="2" charset="-122"/>
              </a:rPr>
              <a:t>弹出</a:t>
            </a:r>
            <a:r>
              <a:rPr lang="en-US" altLang="zh-CN" sz="2200" b="1" dirty="0">
                <a:latin typeface="宋体" pitchFamily="2" charset="-122"/>
                <a:ea typeface="宋体" pitchFamily="2" charset="-122"/>
              </a:rPr>
              <a:t>)</a:t>
            </a:r>
            <a:r>
              <a:rPr lang="zh-CN" altLang="en-US" sz="2200" b="1" dirty="0">
                <a:latin typeface="宋体" pitchFamily="2" charset="-122"/>
                <a:ea typeface="宋体" pitchFamily="2" charset="-122"/>
              </a:rPr>
              <a:t>中选择</a:t>
            </a:r>
            <a:endParaRPr lang="en-US" altLang="zh-CN" sz="2200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0246" name="Text Box 5"/>
          <p:cNvSpPr txBox="1">
            <a:spLocks noChangeArrowheads="1"/>
          </p:cNvSpPr>
          <p:nvPr/>
        </p:nvSpPr>
        <p:spPr bwMode="auto">
          <a:xfrm>
            <a:off x="152400" y="5257800"/>
            <a:ext cx="8713788" cy="457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2200" b="1" dirty="0">
                <a:solidFill>
                  <a:srgbClr val="800080"/>
                </a:solidFill>
                <a:latin typeface="宋体" pitchFamily="2" charset="-122"/>
                <a:ea typeface="宋体" pitchFamily="2" charset="-122"/>
              </a:rPr>
              <a:t>   *</a:t>
            </a:r>
            <a:r>
              <a:rPr lang="zh-CN" altLang="en-US" sz="2200" b="1" dirty="0">
                <a:solidFill>
                  <a:srgbClr val="800080"/>
                </a:solidFill>
                <a:latin typeface="宋体" pitchFamily="2" charset="-122"/>
                <a:ea typeface="宋体" pitchFamily="2" charset="-122"/>
              </a:rPr>
              <a:t>选用方法</a:t>
            </a:r>
            <a:r>
              <a:rPr lang="en-US" altLang="zh-CN" sz="2200" b="1" dirty="0">
                <a:solidFill>
                  <a:srgbClr val="800080"/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lang="zh-CN" altLang="en-US" sz="2200" b="1" dirty="0">
                <a:solidFill>
                  <a:srgbClr val="800080"/>
                </a:solidFill>
                <a:latin typeface="宋体" pitchFamily="2" charset="-122"/>
                <a:ea typeface="宋体" pitchFamily="2" charset="-122"/>
              </a:rPr>
              <a:t>：</a:t>
            </a:r>
            <a:r>
              <a:rPr lang="zh-CN" altLang="en-US" sz="2200" b="1" dirty="0">
                <a:latin typeface="宋体" pitchFamily="2" charset="-122"/>
                <a:ea typeface="宋体" pitchFamily="2" charset="-122"/>
              </a:rPr>
              <a:t>在编辑区中用</a:t>
            </a:r>
            <a:r>
              <a:rPr lang="en-US" altLang="zh-CN" sz="2200" b="1" dirty="0">
                <a:latin typeface="宋体" pitchFamily="2" charset="-122"/>
                <a:ea typeface="宋体" pitchFamily="2" charset="-122"/>
              </a:rPr>
              <a:t>Copy</a:t>
            </a:r>
            <a:r>
              <a:rPr lang="zh-CN" altLang="en-US" sz="2200" b="1" dirty="0">
                <a:latin typeface="宋体" pitchFamily="2" charset="-122"/>
                <a:ea typeface="宋体" pitchFamily="2" charset="-122"/>
              </a:rPr>
              <a:t>、</a:t>
            </a:r>
            <a:r>
              <a:rPr lang="en-US" altLang="zh-CN" sz="2200" b="1" dirty="0">
                <a:latin typeface="宋体" pitchFamily="2" charset="-122"/>
                <a:ea typeface="宋体" pitchFamily="2" charset="-122"/>
              </a:rPr>
              <a:t>Paste</a:t>
            </a:r>
            <a:r>
              <a:rPr lang="zh-CN" altLang="en-US" sz="2200" b="1" dirty="0">
                <a:latin typeface="宋体" pitchFamily="2" charset="-122"/>
                <a:ea typeface="宋体" pitchFamily="2" charset="-122"/>
              </a:rPr>
              <a:t>命令实现</a:t>
            </a:r>
          </a:p>
        </p:txBody>
      </p:sp>
      <p:sp>
        <p:nvSpPr>
          <p:cNvPr id="10247" name="Text Box 5"/>
          <p:cNvSpPr txBox="1">
            <a:spLocks noChangeArrowheads="1"/>
          </p:cNvSpPr>
          <p:nvPr/>
        </p:nvSpPr>
        <p:spPr bwMode="auto">
          <a:xfrm>
            <a:off x="152400" y="5715000"/>
            <a:ext cx="8713788" cy="457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200" b="1" dirty="0">
                <a:solidFill>
                  <a:srgbClr val="800080"/>
                </a:solidFill>
                <a:latin typeface="宋体" charset="-122"/>
              </a:rPr>
              <a:t>   *</a:t>
            </a:r>
            <a:r>
              <a:rPr lang="zh-CN" altLang="en-US" sz="2200" b="1" dirty="0">
                <a:solidFill>
                  <a:srgbClr val="800080"/>
                </a:solidFill>
                <a:latin typeface="宋体" charset="-122"/>
              </a:rPr>
              <a:t>放置方法：</a:t>
            </a:r>
            <a:r>
              <a:rPr lang="zh-CN" altLang="en-US" sz="2200" b="1" dirty="0">
                <a:latin typeface="宋体" charset="-122"/>
              </a:rPr>
              <a:t>按下鼠标左键后拖动，或用方向键移动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3A2EDF1-5BC7-4075-91B3-BC6AF177E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76195"/>
            <a:ext cx="4114800" cy="3285497"/>
          </a:xfrm>
          <a:prstGeom prst="rect">
            <a:avLst/>
          </a:prstGeom>
        </p:spPr>
      </p:pic>
      <p:sp>
        <p:nvSpPr>
          <p:cNvPr id="10245" name="AutoShape 4"/>
          <p:cNvSpPr>
            <a:spLocks noChangeArrowheads="1"/>
          </p:cNvSpPr>
          <p:nvPr/>
        </p:nvSpPr>
        <p:spPr bwMode="auto">
          <a:xfrm>
            <a:off x="5294474" y="2161253"/>
            <a:ext cx="3590612" cy="2209800"/>
          </a:xfrm>
          <a:prstGeom prst="wedgeRectCallout">
            <a:avLst>
              <a:gd name="adj1" fmla="val -65650"/>
              <a:gd name="adj2" fmla="val -56269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54000" tIns="10800" rIns="54000" bIns="10800"/>
          <a:lstStyle/>
          <a:p>
            <a:pPr>
              <a:lnSpc>
                <a:spcPct val="115000"/>
              </a:lnSpc>
            </a:pPr>
            <a:r>
              <a:rPr lang="zh-CN" altLang="en-US" b="1" dirty="0">
                <a:latin typeface="宋体" charset="-122"/>
              </a:rPr>
              <a:t>提示：</a:t>
            </a:r>
          </a:p>
          <a:p>
            <a:pPr>
              <a:lnSpc>
                <a:spcPct val="115000"/>
              </a:lnSpc>
            </a:pPr>
            <a:r>
              <a:rPr lang="zh-CN" altLang="en-US" dirty="0">
                <a:latin typeface="宋体" charset="-122"/>
              </a:rPr>
              <a:t>  </a:t>
            </a:r>
            <a:r>
              <a:rPr lang="zh-CN" altLang="en-US" b="1" dirty="0">
                <a:latin typeface="宋体" charset="-122"/>
              </a:rPr>
              <a:t>*弹出</a:t>
            </a:r>
            <a:r>
              <a:rPr lang="en-US" altLang="zh-CN" b="1" dirty="0">
                <a:latin typeface="宋体" charset="-122"/>
              </a:rPr>
              <a:t>Symbol</a:t>
            </a:r>
            <a:r>
              <a:rPr lang="zh-CN" altLang="en-US" b="1" dirty="0">
                <a:latin typeface="宋体" charset="-122"/>
              </a:rPr>
              <a:t>可通过工具条、编辑区双击鼠标左键等实现</a:t>
            </a:r>
            <a:endParaRPr lang="en-US" altLang="zh-CN" b="1" dirty="0">
              <a:latin typeface="宋体" charset="-122"/>
            </a:endParaRPr>
          </a:p>
          <a:p>
            <a:pPr>
              <a:lnSpc>
                <a:spcPct val="115000"/>
              </a:lnSpc>
            </a:pPr>
            <a:r>
              <a:rPr lang="en-US" altLang="zh-CN" b="1" dirty="0">
                <a:latin typeface="宋体" charset="-122"/>
              </a:rPr>
              <a:t>  *</a:t>
            </a:r>
            <a:r>
              <a:rPr lang="zh-CN" altLang="en-US" b="1" dirty="0">
                <a:latin typeface="宋体" charset="-122"/>
              </a:rPr>
              <a:t>元件库有系统库</a:t>
            </a:r>
            <a:r>
              <a:rPr lang="en-US" altLang="zh-CN" b="1" dirty="0">
                <a:latin typeface="宋体" charset="-122"/>
              </a:rPr>
              <a:t>(c:/altera/ 72/</a:t>
            </a:r>
            <a:r>
              <a:rPr lang="en-US" altLang="zh-CN" b="1" dirty="0" err="1">
                <a:latin typeface="宋体" charset="-122"/>
              </a:rPr>
              <a:t>quartus</a:t>
            </a:r>
            <a:r>
              <a:rPr lang="en-US" altLang="zh-CN" b="1" dirty="0">
                <a:latin typeface="宋体" charset="-122"/>
              </a:rPr>
              <a:t>/libraries)</a:t>
            </a:r>
            <a:r>
              <a:rPr lang="zh-CN" altLang="en-US" b="1" dirty="0">
                <a:latin typeface="宋体" charset="-122"/>
              </a:rPr>
              <a:t>和</a:t>
            </a:r>
            <a:r>
              <a:rPr lang="en-US" altLang="zh-CN" b="1" dirty="0">
                <a:latin typeface="宋体" charset="-122"/>
              </a:rPr>
              <a:t>Project</a:t>
            </a:r>
            <a:r>
              <a:rPr lang="zh-CN" altLang="en-US" b="1" dirty="0">
                <a:latin typeface="宋体" charset="-122"/>
              </a:rPr>
              <a:t>库</a:t>
            </a:r>
            <a:r>
              <a:rPr lang="en-US" altLang="zh-CN" b="1" dirty="0">
                <a:latin typeface="宋体" charset="-122"/>
              </a:rPr>
              <a:t>(</a:t>
            </a:r>
            <a:r>
              <a:rPr lang="zh-CN" altLang="en-US" b="1" dirty="0">
                <a:latin typeface="宋体" charset="-122"/>
              </a:rPr>
              <a:t>用户自定义符号文件</a:t>
            </a:r>
            <a:r>
              <a:rPr lang="en-US" altLang="zh-CN" b="1" dirty="0">
                <a:latin typeface="宋体" charset="-122"/>
              </a:rPr>
              <a:t>)</a:t>
            </a:r>
            <a:r>
              <a:rPr lang="zh-CN" altLang="en-US" b="1" dirty="0">
                <a:latin typeface="宋体" charset="-122"/>
              </a:rPr>
              <a:t>两类</a:t>
            </a:r>
            <a:endParaRPr lang="en-US" altLang="zh-CN" b="1" dirty="0">
              <a:latin typeface="宋体" charset="-122"/>
            </a:endParaRPr>
          </a:p>
          <a:p>
            <a:pPr>
              <a:lnSpc>
                <a:spcPct val="115000"/>
              </a:lnSpc>
            </a:pPr>
            <a:r>
              <a:rPr lang="en-US" altLang="zh-CN" b="1" dirty="0">
                <a:latin typeface="宋体" charset="-122"/>
              </a:rPr>
              <a:t>  *I/O</a:t>
            </a:r>
            <a:r>
              <a:rPr lang="zh-CN" altLang="en-US" b="1" dirty="0">
                <a:latin typeface="宋体" charset="-122"/>
              </a:rPr>
              <a:t>管脚、</a:t>
            </a:r>
            <a:r>
              <a:rPr lang="en-US" altLang="zh-CN" b="1" dirty="0" err="1">
                <a:latin typeface="宋体" charset="-122"/>
              </a:rPr>
              <a:t>Vcc</a:t>
            </a:r>
            <a:r>
              <a:rPr lang="zh-CN" altLang="en-US" b="1" dirty="0">
                <a:latin typeface="宋体" charset="-122"/>
              </a:rPr>
              <a:t>、</a:t>
            </a:r>
            <a:r>
              <a:rPr lang="en-US" altLang="zh-CN" b="1" dirty="0" err="1">
                <a:latin typeface="宋体" charset="-122"/>
              </a:rPr>
              <a:t>Gnd</a:t>
            </a:r>
            <a:r>
              <a:rPr lang="zh-CN" altLang="en-US" b="1" dirty="0">
                <a:latin typeface="宋体" charset="-122"/>
              </a:rPr>
              <a:t>都是元件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CA6EC4E0-8E2C-4DFF-B5F2-09381DDEB868}" type="slidenum">
              <a:rPr lang="en-US" altLang="zh-CN" smtClean="0">
                <a:latin typeface="Arial Black" pitchFamily="34" charset="0"/>
              </a:rPr>
              <a:pPr eaLnBrk="1" hangingPunct="1"/>
              <a:t>9</a:t>
            </a:fld>
            <a:endParaRPr lang="en-US" altLang="zh-CN">
              <a:latin typeface="Arial Black" pitchFamily="34" charset="0"/>
            </a:endParaRPr>
          </a:p>
        </p:txBody>
      </p:sp>
      <p:sp>
        <p:nvSpPr>
          <p:cNvPr id="11267" name="Text Box 2"/>
          <p:cNvSpPr txBox="1">
            <a:spLocks noChangeArrowheads="1"/>
          </p:cNvSpPr>
          <p:nvPr/>
        </p:nvSpPr>
        <p:spPr bwMode="auto">
          <a:xfrm>
            <a:off x="179388" y="549275"/>
            <a:ext cx="8713787" cy="158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200" b="1" dirty="0">
                <a:solidFill>
                  <a:srgbClr val="CC3300"/>
                </a:solidFill>
                <a:latin typeface="宋体" charset="-122"/>
              </a:rPr>
              <a:t>⑵</a:t>
            </a:r>
            <a:r>
              <a:rPr lang="zh-CN" altLang="en-US" sz="2200" b="1" dirty="0">
                <a:solidFill>
                  <a:srgbClr val="CC3300"/>
                </a:solidFill>
                <a:latin typeface="宋体" charset="-122"/>
              </a:rPr>
              <a:t>元件的连接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200" b="1" dirty="0">
                <a:solidFill>
                  <a:srgbClr val="800080"/>
                </a:solidFill>
                <a:latin typeface="宋体" charset="-122"/>
              </a:rPr>
              <a:t>   *连接方法</a:t>
            </a:r>
            <a:r>
              <a:rPr lang="en-US" altLang="zh-CN" sz="2200" b="1" dirty="0">
                <a:solidFill>
                  <a:srgbClr val="800080"/>
                </a:solidFill>
                <a:latin typeface="宋体" charset="-122"/>
              </a:rPr>
              <a:t>1</a:t>
            </a:r>
            <a:r>
              <a:rPr lang="zh-CN" altLang="en-US" sz="2200" b="1" dirty="0">
                <a:solidFill>
                  <a:srgbClr val="800080"/>
                </a:solidFill>
                <a:latin typeface="宋体" charset="-122"/>
              </a:rPr>
              <a:t>：</a:t>
            </a:r>
            <a:r>
              <a:rPr lang="zh-CN" altLang="en-US" sz="2200" b="1" dirty="0">
                <a:latin typeface="宋体" charset="-122"/>
              </a:rPr>
              <a:t>源端</a:t>
            </a:r>
            <a:r>
              <a:rPr lang="en-US" altLang="zh-CN" b="1" dirty="0">
                <a:latin typeface="宋体" charset="-122"/>
              </a:rPr>
              <a:t>(</a:t>
            </a:r>
            <a:r>
              <a:rPr lang="zh-CN" altLang="en-US" b="1" dirty="0">
                <a:latin typeface="宋体" charset="-122"/>
              </a:rPr>
              <a:t>如元件出端</a:t>
            </a:r>
            <a:r>
              <a:rPr lang="en-US" altLang="zh-CN" b="1" dirty="0">
                <a:latin typeface="宋体" charset="-122"/>
              </a:rPr>
              <a:t>/</a:t>
            </a:r>
            <a:r>
              <a:rPr lang="zh-CN" altLang="en-US" b="1" dirty="0">
                <a:latin typeface="宋体" charset="-122"/>
              </a:rPr>
              <a:t>信号线</a:t>
            </a:r>
            <a:r>
              <a:rPr lang="en-US" altLang="zh-CN" b="1" dirty="0">
                <a:latin typeface="宋体" charset="-122"/>
              </a:rPr>
              <a:t>)</a:t>
            </a:r>
            <a:r>
              <a:rPr lang="zh-CN" altLang="en-US" sz="2200" b="1" u="sng" dirty="0">
                <a:solidFill>
                  <a:srgbClr val="0000FF"/>
                </a:solidFill>
                <a:latin typeface="宋体" charset="-122"/>
              </a:rPr>
              <a:t>连线至</a:t>
            </a:r>
            <a:r>
              <a:rPr lang="zh-CN" altLang="en-US" sz="2200" b="1" dirty="0">
                <a:latin typeface="宋体" charset="-122"/>
              </a:rPr>
              <a:t>目标端</a:t>
            </a:r>
            <a:r>
              <a:rPr lang="en-US" altLang="zh-CN" b="1" dirty="0">
                <a:latin typeface="宋体" charset="-122"/>
              </a:rPr>
              <a:t>(</a:t>
            </a:r>
            <a:r>
              <a:rPr lang="zh-CN" altLang="en-US" b="1" dirty="0">
                <a:latin typeface="宋体" charset="-122"/>
              </a:rPr>
              <a:t>信号线</a:t>
            </a:r>
            <a:r>
              <a:rPr lang="en-US" altLang="zh-CN" b="1" dirty="0">
                <a:latin typeface="宋体" charset="-122"/>
              </a:rPr>
              <a:t>/</a:t>
            </a:r>
            <a:r>
              <a:rPr lang="zh-CN" altLang="en-US" b="1" dirty="0">
                <a:latin typeface="宋体" charset="-122"/>
              </a:rPr>
              <a:t>元件入端</a:t>
            </a:r>
            <a:r>
              <a:rPr lang="en-US" altLang="zh-CN" b="1" dirty="0">
                <a:latin typeface="宋体" charset="-122"/>
              </a:rPr>
              <a:t>)</a:t>
            </a:r>
            <a:endParaRPr lang="en-US" altLang="zh-CN" sz="2200" b="1" dirty="0">
              <a:latin typeface="宋体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dirty="0">
                <a:latin typeface="宋体" charset="-122"/>
              </a:rPr>
              <a:t>                             │</a:t>
            </a:r>
            <a:r>
              <a:rPr lang="zh-CN" altLang="en-US" b="1" dirty="0">
                <a:latin typeface="宋体" charset="-122"/>
              </a:rPr>
              <a:t>      </a:t>
            </a:r>
            <a:r>
              <a:rPr lang="zh-CN" altLang="en-US" dirty="0">
                <a:latin typeface="宋体" charset="-122"/>
              </a:rPr>
              <a:t>└</a:t>
            </a:r>
            <a:r>
              <a:rPr lang="zh-CN" altLang="en-US" b="1" dirty="0">
                <a:latin typeface="宋体" charset="-122"/>
              </a:rPr>
              <a:t>需先在工具箱中选择信号线类型</a:t>
            </a:r>
            <a:endParaRPr lang="en-US" altLang="zh-CN" b="1" dirty="0">
              <a:latin typeface="宋体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en-US" altLang="zh-CN" b="1" dirty="0">
                <a:latin typeface="宋体" charset="-122"/>
              </a:rPr>
              <a:t>                             </a:t>
            </a:r>
            <a:r>
              <a:rPr lang="zh-CN" altLang="en-US" dirty="0">
                <a:latin typeface="宋体" charset="-122"/>
              </a:rPr>
              <a:t>└</a:t>
            </a:r>
            <a:r>
              <a:rPr lang="zh-CN" altLang="en-US" b="1" u="sng" dirty="0">
                <a:latin typeface="宋体" charset="-122"/>
              </a:rPr>
              <a:t>按下</a:t>
            </a:r>
            <a:r>
              <a:rPr lang="zh-CN" altLang="en-US" b="1" dirty="0">
                <a:latin typeface="宋体" charset="-122"/>
              </a:rPr>
              <a:t>鼠标左键、</a:t>
            </a:r>
            <a:r>
              <a:rPr lang="zh-CN" altLang="en-US" b="1" u="sng" dirty="0">
                <a:latin typeface="宋体" charset="-122"/>
              </a:rPr>
              <a:t>拖至</a:t>
            </a:r>
            <a:r>
              <a:rPr lang="zh-CN" altLang="en-US" b="1" dirty="0">
                <a:latin typeface="宋体" charset="-122"/>
              </a:rPr>
              <a:t>目标端松开</a:t>
            </a:r>
          </a:p>
        </p:txBody>
      </p:sp>
      <p:sp>
        <p:nvSpPr>
          <p:cNvPr id="11269" name="Text Box 4"/>
          <p:cNvSpPr txBox="1">
            <a:spLocks noChangeArrowheads="1"/>
          </p:cNvSpPr>
          <p:nvPr/>
        </p:nvSpPr>
        <p:spPr bwMode="auto">
          <a:xfrm>
            <a:off x="179388" y="2133600"/>
            <a:ext cx="8713787" cy="457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200" b="1" dirty="0">
                <a:solidFill>
                  <a:srgbClr val="800080"/>
                </a:solidFill>
                <a:latin typeface="宋体" charset="-122"/>
              </a:rPr>
              <a:t>   *</a:t>
            </a:r>
            <a:r>
              <a:rPr lang="zh-CN" altLang="en-US" sz="2200" b="1" dirty="0">
                <a:solidFill>
                  <a:srgbClr val="800080"/>
                </a:solidFill>
                <a:latin typeface="宋体" charset="-122"/>
              </a:rPr>
              <a:t>连接方法</a:t>
            </a:r>
            <a:r>
              <a:rPr lang="en-US" altLang="zh-CN" sz="2200" b="1" dirty="0">
                <a:solidFill>
                  <a:srgbClr val="800080"/>
                </a:solidFill>
                <a:latin typeface="宋体" charset="-122"/>
              </a:rPr>
              <a:t>2</a:t>
            </a:r>
            <a:r>
              <a:rPr lang="zh-CN" altLang="en-US" sz="2200" b="1" dirty="0">
                <a:solidFill>
                  <a:srgbClr val="800080"/>
                </a:solidFill>
                <a:latin typeface="宋体" charset="-122"/>
              </a:rPr>
              <a:t>：</a:t>
            </a:r>
            <a:r>
              <a:rPr lang="zh-CN" altLang="en-US" sz="2200" b="1" dirty="0">
                <a:latin typeface="宋体" charset="-122"/>
              </a:rPr>
              <a:t>对信号线</a:t>
            </a:r>
            <a:r>
              <a:rPr lang="zh-CN" altLang="en-US" sz="2200" b="1" u="sng" dirty="0">
                <a:solidFill>
                  <a:srgbClr val="0000FF"/>
                </a:solidFill>
                <a:latin typeface="宋体" charset="-122"/>
              </a:rPr>
              <a:t>命名</a:t>
            </a:r>
            <a:r>
              <a:rPr lang="zh-CN" altLang="en-US" sz="2200" b="1" dirty="0">
                <a:latin typeface="宋体" charset="-122"/>
              </a:rPr>
              <a:t>，源端、目标端的</a:t>
            </a:r>
            <a:r>
              <a:rPr lang="zh-CN" altLang="en-US" sz="2200" b="1" u="sng" dirty="0">
                <a:solidFill>
                  <a:srgbClr val="0000FF"/>
                </a:solidFill>
                <a:latin typeface="宋体" charset="-122"/>
              </a:rPr>
              <a:t>信号线同名</a:t>
            </a:r>
            <a:r>
              <a:rPr lang="zh-CN" altLang="en-US" sz="2200" b="1" dirty="0">
                <a:latin typeface="宋体" charset="-122"/>
              </a:rPr>
              <a:t>即可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FACAC15-3A27-444A-B58A-F35FCD8D9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403" y="2666250"/>
            <a:ext cx="6127197" cy="3903928"/>
          </a:xfrm>
          <a:prstGeom prst="rect">
            <a:avLst/>
          </a:prstGeom>
        </p:spPr>
      </p:pic>
      <p:sp>
        <p:nvSpPr>
          <p:cNvPr id="11268" name="AutoShape 3"/>
          <p:cNvSpPr>
            <a:spLocks noChangeArrowheads="1"/>
          </p:cNvSpPr>
          <p:nvPr/>
        </p:nvSpPr>
        <p:spPr bwMode="auto">
          <a:xfrm>
            <a:off x="6857999" y="3657601"/>
            <a:ext cx="2133599" cy="2057399"/>
          </a:xfrm>
          <a:prstGeom prst="wedgeRectCallout">
            <a:avLst>
              <a:gd name="adj1" fmla="val -76544"/>
              <a:gd name="adj2" fmla="val -35785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54000" tIns="10800" rIns="54000" bIns="10800"/>
          <a:lstStyle/>
          <a:p>
            <a:pPr>
              <a:lnSpc>
                <a:spcPct val="105000"/>
              </a:lnSpc>
            </a:pPr>
            <a:r>
              <a:rPr lang="zh-CN" altLang="en-US" b="1" dirty="0">
                <a:latin typeface="宋体" charset="-122"/>
              </a:rPr>
              <a:t>提示：</a:t>
            </a:r>
          </a:p>
          <a:p>
            <a:pPr>
              <a:lnSpc>
                <a:spcPct val="105000"/>
              </a:lnSpc>
            </a:pPr>
            <a:r>
              <a:rPr lang="zh-CN" altLang="en-US" dirty="0">
                <a:latin typeface="宋体" charset="-122"/>
              </a:rPr>
              <a:t>  </a:t>
            </a:r>
            <a:r>
              <a:rPr lang="zh-CN" altLang="en-US" b="1" dirty="0">
                <a:latin typeface="宋体" charset="-122"/>
              </a:rPr>
              <a:t>*常用信号线类型为</a:t>
            </a:r>
            <a:r>
              <a:rPr lang="en-US" altLang="zh-CN" b="1" dirty="0">
                <a:latin typeface="宋体" charset="-122"/>
              </a:rPr>
              <a:t>Node</a:t>
            </a:r>
            <a:r>
              <a:rPr lang="zh-CN" altLang="en-US" b="1" dirty="0">
                <a:latin typeface="宋体" charset="-122"/>
              </a:rPr>
              <a:t>、</a:t>
            </a:r>
            <a:r>
              <a:rPr lang="en-US" altLang="zh-CN" b="1" dirty="0">
                <a:latin typeface="宋体" charset="-122"/>
              </a:rPr>
              <a:t>Bus</a:t>
            </a:r>
          </a:p>
          <a:p>
            <a:pPr>
              <a:lnSpc>
                <a:spcPct val="105000"/>
              </a:lnSpc>
            </a:pPr>
            <a:r>
              <a:rPr lang="en-US" altLang="zh-CN" b="1" dirty="0">
                <a:latin typeface="宋体" charset="-122"/>
              </a:rPr>
              <a:t>  *Bus</a:t>
            </a:r>
            <a:r>
              <a:rPr lang="zh-CN" altLang="en-US" b="1" dirty="0">
                <a:latin typeface="宋体" charset="-122"/>
              </a:rPr>
              <a:t>中信号线</a:t>
            </a:r>
            <a:r>
              <a:rPr lang="zh-CN" altLang="en-US" b="1" u="sng" dirty="0">
                <a:latin typeface="宋体" charset="-122"/>
              </a:rPr>
              <a:t>可拆开</a:t>
            </a:r>
            <a:r>
              <a:rPr lang="zh-CN" altLang="en-US" b="1" dirty="0">
                <a:latin typeface="宋体" charset="-122"/>
              </a:rPr>
              <a:t>使用</a:t>
            </a:r>
            <a:endParaRPr lang="en-US" altLang="zh-CN" b="1" dirty="0">
              <a:latin typeface="宋体" charset="-122"/>
            </a:endParaRPr>
          </a:p>
          <a:p>
            <a:pPr>
              <a:lnSpc>
                <a:spcPct val="105000"/>
              </a:lnSpc>
            </a:pPr>
            <a:r>
              <a:rPr lang="zh-CN" altLang="en-US" b="1" dirty="0">
                <a:latin typeface="宋体" charset="-122"/>
              </a:rPr>
              <a:t>  *仅复用信号线需要命名</a:t>
            </a:r>
            <a:endParaRPr lang="en-US" altLang="zh-CN" b="1" dirty="0">
              <a:latin typeface="宋体" charset="-122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7BE28A43-5DEE-453D-A205-39AC4BB171DB}" type="slidenum">
              <a:rPr lang="en-US" altLang="zh-CN" smtClean="0">
                <a:latin typeface="Arial Black" pitchFamily="34" charset="0"/>
              </a:rPr>
              <a:pPr eaLnBrk="1" hangingPunct="1"/>
              <a:t>10</a:t>
            </a:fld>
            <a:endParaRPr lang="en-US" altLang="zh-CN">
              <a:latin typeface="Arial Black" pitchFamily="34" charset="0"/>
            </a:endParaRPr>
          </a:p>
        </p:txBody>
      </p:sp>
      <p:sp>
        <p:nvSpPr>
          <p:cNvPr id="12291" name="Text Box 2"/>
          <p:cNvSpPr txBox="1">
            <a:spLocks noChangeArrowheads="1"/>
          </p:cNvSpPr>
          <p:nvPr/>
        </p:nvSpPr>
        <p:spPr bwMode="auto">
          <a:xfrm>
            <a:off x="179388" y="1828800"/>
            <a:ext cx="8812212" cy="3274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2200" b="1" dirty="0">
                <a:solidFill>
                  <a:srgbClr val="CC3300"/>
                </a:solidFill>
                <a:latin typeface="宋体" charset="-122"/>
              </a:rPr>
              <a:t>⑷</a:t>
            </a:r>
            <a:r>
              <a:rPr lang="en-US" altLang="zh-CN" sz="2200" b="1" dirty="0">
                <a:solidFill>
                  <a:srgbClr val="CC3300"/>
                </a:solidFill>
                <a:latin typeface="宋体" charset="-122"/>
              </a:rPr>
              <a:t>I/O</a:t>
            </a:r>
            <a:r>
              <a:rPr lang="zh-CN" altLang="en-US" sz="2200" b="1" dirty="0">
                <a:solidFill>
                  <a:srgbClr val="CC3300"/>
                </a:solidFill>
                <a:latin typeface="宋体" charset="-122"/>
              </a:rPr>
              <a:t>管脚的属性设置   </a:t>
            </a:r>
            <a:r>
              <a:rPr lang="en-US" altLang="zh-CN" sz="2200" b="1" dirty="0">
                <a:solidFill>
                  <a:srgbClr val="CC3300"/>
                </a:solidFill>
                <a:latin typeface="宋体" charset="-122"/>
              </a:rPr>
              <a:t>(</a:t>
            </a:r>
            <a:r>
              <a:rPr lang="zh-CN" altLang="en-US" sz="2200" b="1" dirty="0">
                <a:solidFill>
                  <a:srgbClr val="CC3300"/>
                </a:solidFill>
                <a:latin typeface="宋体" charset="-122"/>
              </a:rPr>
              <a:t>可选</a:t>
            </a:r>
            <a:r>
              <a:rPr lang="en-US" altLang="zh-CN" sz="2200" b="1" dirty="0">
                <a:solidFill>
                  <a:srgbClr val="CC3300"/>
                </a:solidFill>
                <a:latin typeface="宋体" charset="-122"/>
              </a:rPr>
              <a:t>)</a:t>
            </a:r>
            <a:endParaRPr lang="zh-CN" altLang="en-US" sz="2200" b="1" dirty="0">
              <a:solidFill>
                <a:srgbClr val="CC3300"/>
              </a:solidFill>
              <a:latin typeface="宋体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sz="2200" b="1" dirty="0">
                <a:latin typeface="宋体" charset="-122"/>
              </a:rPr>
              <a:t>   当管脚数量＞芯片最大值时，需将部分管脚设置为</a:t>
            </a:r>
            <a:r>
              <a:rPr lang="zh-CN" altLang="en-US" sz="2200" b="1" u="sng" dirty="0">
                <a:solidFill>
                  <a:srgbClr val="0000FF"/>
                </a:solidFill>
                <a:latin typeface="宋体" charset="-122"/>
              </a:rPr>
              <a:t>虚拟引脚</a:t>
            </a:r>
            <a:endParaRPr lang="en-US" altLang="zh-CN" sz="2200" b="1" u="sng" dirty="0">
              <a:solidFill>
                <a:srgbClr val="0000FF"/>
              </a:solidFill>
              <a:latin typeface="宋体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sz="2200" b="1" dirty="0">
                <a:solidFill>
                  <a:srgbClr val="800080"/>
                </a:solidFill>
                <a:latin typeface="宋体" charset="-122"/>
              </a:rPr>
              <a:t>   设置方法：</a:t>
            </a:r>
            <a:r>
              <a:rPr lang="en-US" altLang="zh-CN" sz="2000" b="1" dirty="0">
                <a:latin typeface="宋体" charset="-122"/>
              </a:rPr>
              <a:t>(</a:t>
            </a:r>
            <a:r>
              <a:rPr lang="zh-CN" altLang="en-US" sz="2000" b="1" dirty="0">
                <a:latin typeface="宋体" charset="-122"/>
              </a:rPr>
              <a:t>从</a:t>
            </a:r>
            <a:r>
              <a:rPr lang="zh-CN" altLang="en-US" sz="2000" b="1" dirty="0">
                <a:latin typeface="+mn-ea"/>
              </a:rPr>
              <a:t>菜单</a:t>
            </a:r>
            <a:r>
              <a:rPr lang="en-US" altLang="zh-CN" sz="2000" b="1" dirty="0">
                <a:latin typeface="+mn-ea"/>
              </a:rPr>
              <a:t>Assignments</a:t>
            </a:r>
            <a:r>
              <a:rPr lang="zh-CN" altLang="en-US" sz="2000" b="1" dirty="0">
                <a:latin typeface="+mn-ea"/>
              </a:rPr>
              <a:t>→</a:t>
            </a:r>
            <a:r>
              <a:rPr lang="en-US" altLang="zh-CN" sz="2000" b="1" dirty="0">
                <a:latin typeface="+mn-ea"/>
              </a:rPr>
              <a:t>Assignment Editor</a:t>
            </a:r>
            <a:r>
              <a:rPr lang="zh-CN" altLang="en-US" sz="2000" b="1" dirty="0">
                <a:latin typeface="+mn-ea"/>
              </a:rPr>
              <a:t>进入</a:t>
            </a:r>
            <a:r>
              <a:rPr lang="en-US" altLang="zh-CN" sz="2000" b="1" dirty="0">
                <a:latin typeface="宋体" charset="-122"/>
              </a:rPr>
              <a:t>)</a:t>
            </a:r>
            <a:endParaRPr lang="en-US" altLang="zh-CN" sz="2400" b="1" dirty="0">
              <a:latin typeface="宋体" charset="-122"/>
            </a:endParaRPr>
          </a:p>
          <a:p>
            <a:r>
              <a:rPr lang="zh-CN" altLang="en-US" sz="2200" b="1" dirty="0">
                <a:latin typeface="宋体" charset="-122"/>
              </a:rPr>
              <a:t>      ①将</a:t>
            </a:r>
            <a:r>
              <a:rPr lang="en-US" altLang="zh-CN" sz="2200" b="1" dirty="0">
                <a:latin typeface="宋体" charset="-122"/>
              </a:rPr>
              <a:t>Category</a:t>
            </a:r>
            <a:r>
              <a:rPr lang="zh-CN" altLang="en-US" sz="2200" b="1" dirty="0">
                <a:latin typeface="宋体" charset="-122"/>
              </a:rPr>
              <a:t>栏</a:t>
            </a:r>
            <a:r>
              <a:rPr lang="zh-CN" altLang="en-US" sz="2200" b="1" u="sng" dirty="0">
                <a:latin typeface="宋体" charset="-122"/>
              </a:rPr>
              <a:t>设置</a:t>
            </a:r>
            <a:r>
              <a:rPr lang="zh-CN" altLang="en-US" sz="2200" b="1" dirty="0">
                <a:latin typeface="宋体" charset="-122"/>
              </a:rPr>
              <a:t>为</a:t>
            </a:r>
            <a:r>
              <a:rPr lang="en-US" altLang="zh-CN" sz="2200" b="1" dirty="0">
                <a:latin typeface="宋体" charset="-122"/>
              </a:rPr>
              <a:t>logic options</a:t>
            </a:r>
            <a:endParaRPr lang="zh-CN" altLang="en-US" sz="2200" b="1" dirty="0">
              <a:latin typeface="宋体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sz="2200" b="1" dirty="0">
                <a:latin typeface="宋体" charset="-122"/>
              </a:rPr>
              <a:t>      ②在列表</a:t>
            </a:r>
            <a:r>
              <a:rPr lang="en-US" altLang="zh-CN" sz="2200" b="1" dirty="0">
                <a:latin typeface="宋体" charset="-122"/>
              </a:rPr>
              <a:t>To</a:t>
            </a:r>
            <a:r>
              <a:rPr lang="zh-CN" altLang="en-US" sz="2200" b="1" dirty="0">
                <a:latin typeface="宋体" charset="-122"/>
              </a:rPr>
              <a:t>列中</a:t>
            </a:r>
            <a:r>
              <a:rPr lang="zh-CN" altLang="en-US" sz="2200" b="1" u="sng" dirty="0">
                <a:latin typeface="宋体" charset="-122"/>
              </a:rPr>
              <a:t>添加</a:t>
            </a:r>
            <a:r>
              <a:rPr lang="zh-CN" altLang="en-US" sz="2200" b="1" dirty="0">
                <a:latin typeface="宋体" charset="-122"/>
              </a:rPr>
              <a:t>需设置的管脚</a:t>
            </a:r>
            <a:endParaRPr lang="en-US" altLang="zh-CN" sz="2200" b="1" dirty="0">
              <a:latin typeface="宋体" charset="-122"/>
            </a:endParaRPr>
          </a:p>
          <a:p>
            <a:pPr eaLnBrk="1" hangingPunct="1">
              <a:lnSpc>
                <a:spcPct val="105000"/>
              </a:lnSpc>
            </a:pPr>
            <a:r>
              <a:rPr lang="en-US" altLang="zh-CN" b="1" dirty="0">
                <a:latin typeface="宋体" charset="-122"/>
              </a:rPr>
              <a:t>                          </a:t>
            </a:r>
            <a:r>
              <a:rPr lang="zh-CN" altLang="en-US" dirty="0">
                <a:latin typeface="宋体" charset="-122"/>
              </a:rPr>
              <a:t>└</a:t>
            </a:r>
            <a:r>
              <a:rPr lang="zh-CN" altLang="en-US" b="1" dirty="0">
                <a:latin typeface="宋体" charset="-122"/>
              </a:rPr>
              <a:t>可通过单元</a:t>
            </a:r>
            <a:r>
              <a:rPr lang="en-US" altLang="zh-CN" b="1" dirty="0">
                <a:latin typeface="宋体" charset="-122"/>
              </a:rPr>
              <a:t>&lt;new&gt;</a:t>
            </a:r>
            <a:r>
              <a:rPr lang="zh-CN" altLang="en-US" b="1" dirty="0">
                <a:latin typeface="宋体" charset="-122"/>
              </a:rPr>
              <a:t>的右键菜单</a:t>
            </a:r>
            <a:r>
              <a:rPr lang="en-US" altLang="zh-CN" b="1" dirty="0">
                <a:latin typeface="宋体" charset="-122"/>
              </a:rPr>
              <a:t>Node Finder</a:t>
            </a:r>
            <a:r>
              <a:rPr lang="zh-CN" altLang="en-US" b="1" dirty="0">
                <a:latin typeface="宋体" charset="-122"/>
              </a:rPr>
              <a:t>实现</a:t>
            </a:r>
            <a:endParaRPr lang="en-US" altLang="zh-CN" b="1" dirty="0">
              <a:latin typeface="宋体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sz="2200" b="1" dirty="0">
                <a:latin typeface="宋体" charset="-122"/>
              </a:rPr>
              <a:t>      ③将管脚的</a:t>
            </a:r>
            <a:r>
              <a:rPr lang="en-US" altLang="zh-CN" sz="2200" b="1" dirty="0">
                <a:latin typeface="宋体" charset="-122"/>
              </a:rPr>
              <a:t>Assignment Name</a:t>
            </a:r>
            <a:r>
              <a:rPr lang="zh-CN" altLang="en-US" sz="2200" b="1" dirty="0">
                <a:latin typeface="宋体" charset="-122"/>
              </a:rPr>
              <a:t>列设置为</a:t>
            </a:r>
            <a:r>
              <a:rPr lang="en-US" altLang="zh-CN" sz="2200" b="1" dirty="0">
                <a:latin typeface="宋体" charset="-122"/>
              </a:rPr>
              <a:t>Virtual Pin</a:t>
            </a:r>
            <a:r>
              <a:rPr lang="zh-CN" altLang="en-US" sz="2200" b="1" dirty="0">
                <a:latin typeface="宋体" charset="-122"/>
              </a:rPr>
              <a:t>、</a:t>
            </a:r>
            <a:endParaRPr lang="en-US" altLang="zh-CN" sz="2200" b="1" dirty="0">
              <a:latin typeface="宋体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en-US" altLang="zh-CN" sz="2200" b="1" dirty="0">
                <a:latin typeface="宋体" charset="-122"/>
              </a:rPr>
              <a:t>                Value</a:t>
            </a:r>
            <a:r>
              <a:rPr lang="zh-CN" altLang="en-US" sz="2200" b="1" dirty="0">
                <a:latin typeface="宋体" charset="-122"/>
              </a:rPr>
              <a:t>列设置为</a:t>
            </a:r>
            <a:r>
              <a:rPr lang="en-US" altLang="zh-CN" sz="2200" b="1" dirty="0">
                <a:latin typeface="宋体" charset="-122"/>
              </a:rPr>
              <a:t>On</a:t>
            </a:r>
            <a:r>
              <a:rPr lang="zh-CN" altLang="en-US" sz="2200" b="1" dirty="0">
                <a:latin typeface="宋体" charset="-122"/>
              </a:rPr>
              <a:t>、</a:t>
            </a:r>
            <a:r>
              <a:rPr lang="en-US" altLang="zh-CN" sz="2200" b="1" dirty="0">
                <a:latin typeface="宋体" charset="-122"/>
              </a:rPr>
              <a:t>Enabled</a:t>
            </a:r>
            <a:r>
              <a:rPr lang="zh-CN" altLang="en-US" sz="2200" b="1" dirty="0">
                <a:latin typeface="宋体" charset="-122"/>
              </a:rPr>
              <a:t>列设置为</a:t>
            </a:r>
            <a:r>
              <a:rPr lang="en-US" altLang="zh-CN" sz="2200" b="1" dirty="0">
                <a:latin typeface="宋体" charset="-122"/>
              </a:rPr>
              <a:t>Yes</a:t>
            </a:r>
            <a:endParaRPr lang="zh-CN" altLang="en-US" sz="2200" b="1" dirty="0">
              <a:latin typeface="宋体" charset="-122"/>
            </a:endParaRPr>
          </a:p>
        </p:txBody>
      </p:sp>
      <p:sp>
        <p:nvSpPr>
          <p:cNvPr id="12294" name="Text Box 5"/>
          <p:cNvSpPr txBox="1">
            <a:spLocks noChangeArrowheads="1"/>
          </p:cNvSpPr>
          <p:nvPr/>
        </p:nvSpPr>
        <p:spPr bwMode="auto">
          <a:xfrm>
            <a:off x="179388" y="5029200"/>
            <a:ext cx="8713787" cy="88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charset="-122"/>
              </a:rPr>
              <a:t>3</a:t>
            </a:r>
            <a:r>
              <a:rPr lang="zh-CN" altLang="en-US" sz="2200" b="1" dirty="0">
                <a:solidFill>
                  <a:srgbClr val="FF3399"/>
                </a:solidFill>
                <a:latin typeface="宋体" charset="-122"/>
              </a:rPr>
              <a:t>、保存原理图文件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200" b="1" dirty="0">
                <a:latin typeface="宋体" charset="-122"/>
              </a:rPr>
              <a:t>   从菜单</a:t>
            </a:r>
            <a:r>
              <a:rPr lang="en-US" altLang="zh-CN" sz="2200" b="1" dirty="0" err="1">
                <a:latin typeface="宋体" charset="-122"/>
              </a:rPr>
              <a:t>File→Save</a:t>
            </a:r>
            <a:r>
              <a:rPr lang="zh-CN" altLang="en-US" sz="2200" b="1" dirty="0">
                <a:latin typeface="宋体" charset="-122"/>
              </a:rPr>
              <a:t>进入、或使用工具条，可保存文件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52400" y="533400"/>
            <a:ext cx="8839200" cy="1336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2200" b="1" dirty="0">
                <a:solidFill>
                  <a:srgbClr val="CC3300"/>
                </a:solidFill>
                <a:latin typeface="宋体" charset="-122"/>
              </a:rPr>
              <a:t>⑶信号线的命名  </a:t>
            </a:r>
            <a:endParaRPr lang="en-US" altLang="zh-CN" sz="2200" b="1" dirty="0">
              <a:solidFill>
                <a:srgbClr val="CC3300"/>
              </a:solidFill>
              <a:latin typeface="宋体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en-US" altLang="zh-CN" sz="2200" b="1" dirty="0">
                <a:solidFill>
                  <a:srgbClr val="800080"/>
                </a:solidFill>
                <a:latin typeface="宋体" charset="-122"/>
              </a:rPr>
              <a:t>   </a:t>
            </a:r>
            <a:r>
              <a:rPr lang="zh-CN" altLang="en-US" sz="2200" b="1" u="sng" dirty="0">
                <a:solidFill>
                  <a:srgbClr val="800080"/>
                </a:solidFill>
                <a:latin typeface="宋体" charset="-122"/>
              </a:rPr>
              <a:t>命名</a:t>
            </a:r>
            <a:r>
              <a:rPr lang="zh-CN" altLang="en-US" sz="2200" b="1" dirty="0">
                <a:latin typeface="宋体" charset="-122"/>
              </a:rPr>
              <a:t>针对引脚</a:t>
            </a:r>
            <a:r>
              <a:rPr lang="en-US" altLang="zh-CN" sz="2200" b="1" dirty="0">
                <a:latin typeface="宋体" charset="-122"/>
              </a:rPr>
              <a:t>/</a:t>
            </a:r>
            <a:r>
              <a:rPr lang="zh-CN" altLang="en-US" sz="2200" b="1" dirty="0">
                <a:latin typeface="宋体" charset="-122"/>
              </a:rPr>
              <a:t>元件的入端</a:t>
            </a:r>
            <a:r>
              <a:rPr lang="en-US" altLang="zh-CN" sz="2200" b="1" dirty="0">
                <a:latin typeface="宋体" charset="-122"/>
              </a:rPr>
              <a:t>/</a:t>
            </a:r>
            <a:r>
              <a:rPr lang="zh-CN" altLang="en-US" sz="2200" b="1" dirty="0">
                <a:latin typeface="宋体" charset="-122"/>
              </a:rPr>
              <a:t>出端信号线</a:t>
            </a:r>
            <a:r>
              <a:rPr lang="en-US" altLang="zh-CN" b="1" dirty="0">
                <a:latin typeface="宋体" charset="-122"/>
              </a:rPr>
              <a:t>(</a:t>
            </a:r>
            <a:r>
              <a:rPr lang="zh-CN" altLang="en-US" b="1" dirty="0">
                <a:latin typeface="宋体" charset="-122"/>
              </a:rPr>
              <a:t>元件的信号线可缺省</a:t>
            </a:r>
            <a:r>
              <a:rPr lang="en-US" altLang="zh-CN" b="1" dirty="0">
                <a:latin typeface="宋体" charset="-122"/>
              </a:rPr>
              <a:t>)</a:t>
            </a:r>
            <a:r>
              <a:rPr lang="zh-CN" altLang="en-US" sz="2200" b="1" dirty="0">
                <a:latin typeface="宋体" charset="-122"/>
              </a:rPr>
              <a:t>；</a:t>
            </a:r>
            <a:endParaRPr lang="en-US" altLang="zh-CN" sz="2200" b="1" dirty="0">
              <a:latin typeface="宋体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sz="2200" b="1" dirty="0">
                <a:latin typeface="宋体" charset="-122"/>
              </a:rPr>
              <a:t>   </a:t>
            </a:r>
            <a:r>
              <a:rPr lang="zh-CN" altLang="en-US" sz="2200" b="1" u="sng" dirty="0">
                <a:solidFill>
                  <a:srgbClr val="800080"/>
                </a:solidFill>
                <a:latin typeface="宋体" charset="-122"/>
              </a:rPr>
              <a:t>重命名</a:t>
            </a:r>
            <a:r>
              <a:rPr lang="zh-CN" altLang="en-US" sz="2200" b="1" dirty="0">
                <a:latin typeface="宋体" charset="-122"/>
              </a:rPr>
              <a:t>建议用</a:t>
            </a:r>
            <a:r>
              <a:rPr lang="en-US" altLang="zh-CN" sz="2200" b="1" dirty="0">
                <a:latin typeface="宋体" charset="-122"/>
              </a:rPr>
              <a:t>wire</a:t>
            </a:r>
            <a:r>
              <a:rPr lang="en-US" altLang="zh-CN" b="1" dirty="0">
                <a:latin typeface="宋体" charset="-122"/>
              </a:rPr>
              <a:t>(</a:t>
            </a:r>
            <a:r>
              <a:rPr lang="zh-CN" altLang="en-US" b="1" dirty="0">
                <a:latin typeface="宋体" charset="-122"/>
              </a:rPr>
              <a:t>系统元件库</a:t>
            </a:r>
            <a:r>
              <a:rPr lang="en-US" altLang="zh-CN" b="1" dirty="0">
                <a:latin typeface="宋体" charset="-122"/>
              </a:rPr>
              <a:t>\primitives\buffer</a:t>
            </a:r>
            <a:r>
              <a:rPr lang="zh-CN" altLang="en-US" b="1" dirty="0">
                <a:latin typeface="宋体" charset="-122"/>
              </a:rPr>
              <a:t>中</a:t>
            </a:r>
            <a:r>
              <a:rPr lang="en-US" altLang="zh-CN" b="1" dirty="0">
                <a:latin typeface="宋体" charset="-122"/>
              </a:rPr>
              <a:t>)</a:t>
            </a:r>
            <a:r>
              <a:rPr lang="zh-CN" altLang="en-US" sz="2200" b="1" dirty="0">
                <a:latin typeface="宋体" charset="-122"/>
              </a:rPr>
              <a:t>实现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1BABE31D-854B-49AD-8673-0A89BB363DF7}" type="slidenum">
              <a:rPr lang="en-US" altLang="zh-CN" smtClean="0">
                <a:latin typeface="Arial Black" pitchFamily="34" charset="0"/>
              </a:rPr>
              <a:t>11</a:t>
            </a:fld>
            <a:endParaRPr lang="en-US" altLang="zh-CN" dirty="0">
              <a:latin typeface="Arial Black" pitchFamily="34" charset="0"/>
            </a:endParaRPr>
          </a:p>
        </p:txBody>
      </p:sp>
      <p:sp>
        <p:nvSpPr>
          <p:cNvPr id="13315" name="Text Box 2"/>
          <p:cNvSpPr txBox="1">
            <a:spLocks noChangeArrowheads="1"/>
          </p:cNvSpPr>
          <p:nvPr/>
        </p:nvSpPr>
        <p:spPr bwMode="auto">
          <a:xfrm>
            <a:off x="179388" y="573088"/>
            <a:ext cx="8812212" cy="1726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charset="-122"/>
              </a:rPr>
              <a:t>4</a:t>
            </a:r>
            <a:r>
              <a:rPr lang="zh-CN" altLang="en-US" sz="2200" b="1" dirty="0">
                <a:solidFill>
                  <a:srgbClr val="FF3399"/>
                </a:solidFill>
                <a:latin typeface="宋体" charset="-122"/>
              </a:rPr>
              <a:t>、生成原理图符号文件</a:t>
            </a:r>
            <a:endParaRPr lang="en-US" altLang="zh-CN" sz="2200" b="1" dirty="0">
              <a:solidFill>
                <a:srgbClr val="FF3399"/>
              </a:solidFill>
              <a:latin typeface="宋体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en-US" altLang="zh-CN" sz="2200" b="1" dirty="0">
                <a:solidFill>
                  <a:srgbClr val="800080"/>
                </a:solidFill>
                <a:latin typeface="宋体" charset="-122"/>
              </a:rPr>
              <a:t>   </a:t>
            </a:r>
            <a:r>
              <a:rPr lang="zh-CN" altLang="en-US" sz="2200" b="1" dirty="0">
                <a:solidFill>
                  <a:srgbClr val="800080"/>
                </a:solidFill>
                <a:latin typeface="宋体" charset="-122"/>
              </a:rPr>
              <a:t>*目的：</a:t>
            </a:r>
            <a:r>
              <a:rPr lang="zh-CN" altLang="en-US" sz="2200" b="1" dirty="0">
                <a:latin typeface="宋体" charset="-122"/>
              </a:rPr>
              <a:t>可在</a:t>
            </a:r>
            <a:r>
              <a:rPr lang="en-US" altLang="zh-CN" sz="2200" b="1" dirty="0">
                <a:latin typeface="宋体" charset="-122"/>
              </a:rPr>
              <a:t>Project</a:t>
            </a:r>
            <a:r>
              <a:rPr lang="zh-CN" altLang="en-US" sz="2200" b="1" dirty="0">
                <a:latin typeface="宋体" charset="-122"/>
              </a:rPr>
              <a:t>库中可选用该</a:t>
            </a:r>
            <a:r>
              <a:rPr lang="en-US" altLang="zh-CN" sz="2200" b="1" dirty="0">
                <a:latin typeface="宋体" charset="-122"/>
              </a:rPr>
              <a:t>.</a:t>
            </a:r>
            <a:r>
              <a:rPr lang="en-US" altLang="zh-CN" sz="2200" b="1" dirty="0" err="1">
                <a:latin typeface="宋体" charset="-122"/>
              </a:rPr>
              <a:t>bdf</a:t>
            </a:r>
            <a:r>
              <a:rPr lang="zh-CN" altLang="en-US" sz="2200" b="1" dirty="0">
                <a:latin typeface="宋体" charset="-122"/>
              </a:rPr>
              <a:t>文件</a:t>
            </a:r>
            <a:endParaRPr lang="en-US" altLang="zh-CN" sz="2200" b="1" dirty="0">
              <a:latin typeface="宋体" charset="-122"/>
            </a:endParaRPr>
          </a:p>
          <a:p>
            <a:pPr marL="1879600" indent="-1879600" eaLnBrk="1" hangingPunct="1">
              <a:lnSpc>
                <a:spcPct val="125000"/>
              </a:lnSpc>
            </a:pPr>
            <a:r>
              <a:rPr lang="zh-CN" altLang="en-US" sz="2200" b="1" dirty="0">
                <a:solidFill>
                  <a:srgbClr val="800080"/>
                </a:solidFill>
                <a:latin typeface="宋体" charset="-122"/>
              </a:rPr>
              <a:t>   *步骤：</a:t>
            </a:r>
            <a:r>
              <a:rPr lang="zh-CN" altLang="en-US" sz="2200" b="1" dirty="0">
                <a:latin typeface="宋体" charset="-122"/>
              </a:rPr>
              <a:t>①弹出文件名编辑对话框，从菜单</a:t>
            </a:r>
            <a:r>
              <a:rPr lang="en-US" altLang="zh-CN" sz="2200" b="1" dirty="0" err="1">
                <a:latin typeface="宋体" charset="-122"/>
              </a:rPr>
              <a:t>File→Create</a:t>
            </a:r>
            <a:r>
              <a:rPr lang="en-US" altLang="zh-CN" sz="2200" b="1" dirty="0">
                <a:latin typeface="宋体" charset="-122"/>
              </a:rPr>
              <a:t>/Update   →Create Symbol Files for Current File</a:t>
            </a:r>
            <a:r>
              <a:rPr lang="zh-CN" altLang="en-US" sz="2200" b="1" dirty="0">
                <a:latin typeface="宋体" charset="-122"/>
              </a:rPr>
              <a:t>进入</a:t>
            </a:r>
          </a:p>
        </p:txBody>
      </p:sp>
      <p:pic>
        <p:nvPicPr>
          <p:cNvPr id="1331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987" y="2362200"/>
            <a:ext cx="5256213" cy="287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Text Box 4"/>
          <p:cNvSpPr txBox="1">
            <a:spLocks noChangeArrowheads="1"/>
          </p:cNvSpPr>
          <p:nvPr/>
        </p:nvSpPr>
        <p:spPr bwMode="auto">
          <a:xfrm>
            <a:off x="179388" y="5353094"/>
            <a:ext cx="8713787" cy="457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200" b="1" dirty="0">
                <a:latin typeface="宋体" charset="-122"/>
              </a:rPr>
              <a:t>          </a:t>
            </a:r>
            <a:r>
              <a:rPr lang="zh-CN" altLang="en-US" sz="2200" b="1" dirty="0">
                <a:latin typeface="宋体" charset="-122"/>
              </a:rPr>
              <a:t>②编辑文件名并保存为文件</a:t>
            </a:r>
            <a:r>
              <a:rPr lang="en-US" altLang="zh-CN" sz="2200" b="1" dirty="0">
                <a:latin typeface="宋体" charset="-122"/>
              </a:rPr>
              <a:t>(.</a:t>
            </a:r>
            <a:r>
              <a:rPr lang="en-US" altLang="zh-CN" sz="2200" b="1" dirty="0" err="1">
                <a:latin typeface="宋体" charset="-122"/>
              </a:rPr>
              <a:t>bsf</a:t>
            </a:r>
            <a:r>
              <a:rPr lang="en-US" altLang="zh-CN" sz="2200" b="1" dirty="0">
                <a:latin typeface="宋体" charset="-122"/>
              </a:rPr>
              <a:t>)</a:t>
            </a:r>
            <a:endParaRPr lang="zh-CN" altLang="en-US" sz="2200" b="1" dirty="0">
              <a:latin typeface="宋体" charset="-122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201613" y="5791200"/>
            <a:ext cx="8789987" cy="431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>
              <a:lnSpc>
                <a:spcPct val="115000"/>
              </a:lnSpc>
            </a:pPr>
            <a:r>
              <a:rPr lang="en-US" altLang="zh-CN" sz="2200" b="1" dirty="0">
                <a:solidFill>
                  <a:srgbClr val="800080"/>
                </a:solidFill>
                <a:latin typeface="宋体" charset="-122"/>
              </a:rPr>
              <a:t>   </a:t>
            </a:r>
            <a:r>
              <a:rPr lang="zh-CN" altLang="en-US" sz="2200" b="1" dirty="0">
                <a:solidFill>
                  <a:srgbClr val="800080"/>
                </a:solidFill>
                <a:latin typeface="宋体" charset="-122"/>
              </a:rPr>
              <a:t>*注意：</a:t>
            </a:r>
            <a:r>
              <a:rPr lang="en-US" altLang="zh-CN" sz="2200" b="1" dirty="0">
                <a:latin typeface="宋体" charset="-122"/>
              </a:rPr>
              <a:t>.</a:t>
            </a:r>
            <a:r>
              <a:rPr lang="en-US" altLang="zh-CN" sz="2200" b="1" dirty="0" err="1">
                <a:latin typeface="宋体" charset="-122"/>
              </a:rPr>
              <a:t>bdf</a:t>
            </a:r>
            <a:r>
              <a:rPr lang="zh-CN" altLang="en-US" sz="2200" b="1" dirty="0">
                <a:latin typeface="宋体" charset="-122"/>
              </a:rPr>
              <a:t>文件的</a:t>
            </a:r>
            <a:r>
              <a:rPr lang="en-US" altLang="zh-CN" sz="2200" b="1" dirty="0">
                <a:latin typeface="宋体" charset="-122"/>
              </a:rPr>
              <a:t>I/O</a:t>
            </a:r>
            <a:r>
              <a:rPr lang="zh-CN" altLang="en-US" sz="2200" b="1" dirty="0">
                <a:latin typeface="宋体" charset="-122"/>
              </a:rPr>
              <a:t>管脚改变后，需重新生成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569F072D-0C3F-4D4B-AC17-92F5CE004B09}" type="slidenum">
              <a:rPr lang="en-US" altLang="zh-CN" smtClean="0">
                <a:latin typeface="Arial Black" pitchFamily="34" charset="0"/>
              </a:rPr>
              <a:pPr eaLnBrk="1" hangingPunct="1"/>
              <a:t>12</a:t>
            </a:fld>
            <a:endParaRPr lang="en-US" altLang="zh-CN">
              <a:latin typeface="Arial Black" pitchFamily="34" charset="0"/>
            </a:endParaRPr>
          </a:p>
        </p:txBody>
      </p:sp>
      <p:sp>
        <p:nvSpPr>
          <p:cNvPr id="14339" name="Text Box 2"/>
          <p:cNvSpPr txBox="1">
            <a:spLocks noChangeArrowheads="1"/>
          </p:cNvSpPr>
          <p:nvPr/>
        </p:nvSpPr>
        <p:spPr bwMode="auto">
          <a:xfrm>
            <a:off x="179388" y="669925"/>
            <a:ext cx="8713787" cy="490519"/>
          </a:xfrm>
          <a:prstGeom prst="rect">
            <a:avLst/>
          </a:prstGeom>
          <a:solidFill>
            <a:srgbClr val="FFCC99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三、编译原理图文件</a:t>
            </a:r>
          </a:p>
        </p:txBody>
      </p:sp>
      <p:sp>
        <p:nvSpPr>
          <p:cNvPr id="14340" name="Text Box 3"/>
          <p:cNvSpPr txBox="1">
            <a:spLocks noChangeArrowheads="1"/>
          </p:cNvSpPr>
          <p:nvPr/>
        </p:nvSpPr>
        <p:spPr bwMode="auto">
          <a:xfrm>
            <a:off x="250825" y="1871663"/>
            <a:ext cx="8713788" cy="1303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charset="-122"/>
              </a:rPr>
              <a:t>1</a:t>
            </a:r>
            <a:r>
              <a:rPr lang="zh-CN" altLang="en-US" sz="2200" b="1" dirty="0">
                <a:solidFill>
                  <a:srgbClr val="FF3399"/>
                </a:solidFill>
                <a:latin typeface="宋体" charset="-122"/>
              </a:rPr>
              <a:t>、设置顶层文件</a:t>
            </a:r>
            <a:r>
              <a:rPr lang="zh-CN" altLang="en-US" sz="2200" b="1" dirty="0">
                <a:latin typeface="宋体" charset="-122"/>
              </a:rPr>
              <a:t> 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200" b="1" dirty="0">
                <a:solidFill>
                  <a:srgbClr val="800080"/>
                </a:solidFill>
                <a:latin typeface="宋体" charset="-122"/>
              </a:rPr>
              <a:t>   *方法</a:t>
            </a:r>
            <a:r>
              <a:rPr lang="en-US" altLang="zh-CN" sz="2200" b="1" dirty="0">
                <a:solidFill>
                  <a:srgbClr val="800080"/>
                </a:solidFill>
                <a:latin typeface="宋体" charset="-122"/>
              </a:rPr>
              <a:t>1</a:t>
            </a:r>
            <a:r>
              <a:rPr lang="zh-CN" altLang="en-US" sz="2200" b="1" dirty="0">
                <a:solidFill>
                  <a:srgbClr val="800080"/>
                </a:solidFill>
                <a:latin typeface="宋体" charset="-122"/>
              </a:rPr>
              <a:t>：</a:t>
            </a:r>
            <a:r>
              <a:rPr lang="zh-CN" altLang="en-US" sz="2200" b="1" dirty="0">
                <a:latin typeface="宋体" charset="-122"/>
              </a:rPr>
              <a:t>在窗口</a:t>
            </a:r>
            <a:r>
              <a:rPr lang="en-US" altLang="zh-CN" sz="2200" b="1" dirty="0">
                <a:latin typeface="宋体" charset="-122"/>
              </a:rPr>
              <a:t>Project </a:t>
            </a:r>
            <a:r>
              <a:rPr lang="en-US" altLang="zh-CN" sz="2200" b="1" dirty="0" err="1">
                <a:latin typeface="宋体" charset="-122"/>
              </a:rPr>
              <a:t>Navigator→Files</a:t>
            </a:r>
            <a:r>
              <a:rPr lang="zh-CN" altLang="en-US" sz="2200" b="1" dirty="0">
                <a:latin typeface="宋体" charset="-122"/>
              </a:rPr>
              <a:t>中，通过目标文件的右键菜单，可设置为顶层文件</a:t>
            </a:r>
            <a:r>
              <a:rPr lang="en-US" altLang="zh-CN" b="1" dirty="0">
                <a:latin typeface="宋体" charset="-122"/>
              </a:rPr>
              <a:t>(</a:t>
            </a:r>
            <a:r>
              <a:rPr lang="zh-CN" altLang="en-US" b="1" dirty="0">
                <a:latin typeface="宋体" charset="-122"/>
              </a:rPr>
              <a:t>等价于</a:t>
            </a:r>
            <a:r>
              <a:rPr lang="en-US" altLang="zh-CN" b="1" dirty="0">
                <a:latin typeface="宋体" charset="-122"/>
              </a:rPr>
              <a:t>C</a:t>
            </a:r>
            <a:r>
              <a:rPr lang="zh-CN" altLang="en-US" b="1" dirty="0">
                <a:latin typeface="宋体" charset="-122"/>
              </a:rPr>
              <a:t>语言的</a:t>
            </a:r>
            <a:r>
              <a:rPr lang="en-US" altLang="zh-CN" b="1" dirty="0">
                <a:latin typeface="宋体" charset="-122"/>
              </a:rPr>
              <a:t>main()</a:t>
            </a:r>
            <a:r>
              <a:rPr lang="zh-CN" altLang="en-US" b="1" dirty="0">
                <a:latin typeface="宋体" charset="-122"/>
              </a:rPr>
              <a:t>可指定</a:t>
            </a:r>
            <a:r>
              <a:rPr lang="en-US" altLang="zh-CN" b="1" dirty="0">
                <a:latin typeface="宋体" charset="-122"/>
              </a:rPr>
              <a:t>)</a:t>
            </a:r>
            <a:endParaRPr lang="zh-CN" altLang="en-US" sz="2000" b="1" dirty="0">
              <a:latin typeface="宋体" charset="-122"/>
            </a:endParaRPr>
          </a:p>
        </p:txBody>
      </p:sp>
      <p:pic>
        <p:nvPicPr>
          <p:cNvPr id="1434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1763" y="3200400"/>
            <a:ext cx="3455987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2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963" y="3227388"/>
            <a:ext cx="1871662" cy="249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3" name="AutoShape 6"/>
          <p:cNvSpPr>
            <a:spLocks noChangeArrowheads="1"/>
          </p:cNvSpPr>
          <p:nvPr/>
        </p:nvSpPr>
        <p:spPr bwMode="auto">
          <a:xfrm>
            <a:off x="5075238" y="4208463"/>
            <a:ext cx="576262" cy="576262"/>
          </a:xfrm>
          <a:prstGeom prst="rightArrow">
            <a:avLst>
              <a:gd name="adj1" fmla="val 44907"/>
              <a:gd name="adj2" fmla="val 47935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4" name="Text Box 7"/>
          <p:cNvSpPr txBox="1">
            <a:spLocks noChangeArrowheads="1"/>
          </p:cNvSpPr>
          <p:nvPr/>
        </p:nvSpPr>
        <p:spPr bwMode="auto">
          <a:xfrm>
            <a:off x="179388" y="5791200"/>
            <a:ext cx="8785225" cy="457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200" b="1" dirty="0">
                <a:solidFill>
                  <a:srgbClr val="800080"/>
                </a:solidFill>
                <a:latin typeface="宋体" charset="-122"/>
              </a:rPr>
              <a:t>   *</a:t>
            </a:r>
            <a:r>
              <a:rPr lang="zh-CN" altLang="en-US" sz="2200" b="1" dirty="0">
                <a:solidFill>
                  <a:srgbClr val="800080"/>
                </a:solidFill>
                <a:latin typeface="宋体" charset="-122"/>
              </a:rPr>
              <a:t>方法</a:t>
            </a:r>
            <a:r>
              <a:rPr lang="en-US" altLang="zh-CN" sz="2200" b="1" dirty="0">
                <a:solidFill>
                  <a:srgbClr val="800080"/>
                </a:solidFill>
                <a:latin typeface="宋体" charset="-122"/>
              </a:rPr>
              <a:t>2</a:t>
            </a:r>
            <a:r>
              <a:rPr lang="zh-CN" altLang="en-US" sz="2200" b="1" dirty="0">
                <a:solidFill>
                  <a:srgbClr val="800080"/>
                </a:solidFill>
                <a:latin typeface="宋体" charset="-122"/>
              </a:rPr>
              <a:t>：</a:t>
            </a:r>
            <a:r>
              <a:rPr lang="zh-CN" altLang="en-US" sz="2200" b="1" dirty="0">
                <a:latin typeface="宋体" charset="-122"/>
              </a:rPr>
              <a:t>通过菜单</a:t>
            </a:r>
            <a:r>
              <a:rPr lang="en-US" altLang="zh-CN" sz="2200" b="1" dirty="0">
                <a:latin typeface="宋体" charset="-122"/>
              </a:rPr>
              <a:t>Project</a:t>
            </a:r>
            <a:r>
              <a:rPr lang="zh-CN" altLang="en-US" sz="2200" b="1" dirty="0">
                <a:latin typeface="宋体" charset="-122"/>
              </a:rPr>
              <a:t>，可设置当前编辑文件为顶层文件</a:t>
            </a:r>
          </a:p>
        </p:txBody>
      </p:sp>
      <p:sp>
        <p:nvSpPr>
          <p:cNvPr id="23560" name="Text Box 8"/>
          <p:cNvSpPr txBox="1">
            <a:spLocks noChangeArrowheads="1"/>
          </p:cNvSpPr>
          <p:nvPr/>
        </p:nvSpPr>
        <p:spPr bwMode="auto">
          <a:xfrm>
            <a:off x="179388" y="1295400"/>
            <a:ext cx="8713787" cy="457369"/>
          </a:xfrm>
          <a:prstGeom prst="rect">
            <a:avLst/>
          </a:prstGeom>
          <a:solidFill>
            <a:srgbClr val="99CCFF">
              <a:alpha val="60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2200" b="1" dirty="0">
                <a:latin typeface="宋体" pitchFamily="2" charset="-122"/>
                <a:ea typeface="宋体" pitchFamily="2" charset="-122"/>
              </a:rPr>
              <a:t>   ☆</a:t>
            </a:r>
            <a:r>
              <a:rPr lang="zh-CN" altLang="en-US" sz="2200" b="1" dirty="0">
                <a:latin typeface="宋体" pitchFamily="2" charset="-122"/>
                <a:ea typeface="宋体" pitchFamily="2" charset="-122"/>
              </a:rPr>
              <a:t>编译是相对工程文件而言的，</a:t>
            </a:r>
            <a:r>
              <a:rPr lang="zh-CN" altLang="en-US" sz="2200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  <a:ea typeface="宋体" pitchFamily="2" charset="-122"/>
              </a:rPr>
              <a:t>必须先打开工程文件</a:t>
            </a:r>
            <a:r>
              <a:rPr lang="zh-CN" altLang="en-US" sz="2200" b="1" dirty="0">
                <a:latin typeface="宋体" pitchFamily="2" charset="-122"/>
                <a:ea typeface="宋体" pitchFamily="2" charset="-122"/>
              </a:rPr>
              <a:t>！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0BD65FC3-29EB-4222-B5DD-552E4B12889A}" type="slidenum">
              <a:rPr lang="en-US" altLang="zh-CN" smtClean="0">
                <a:latin typeface="Arial Black" pitchFamily="34" charset="0"/>
              </a:rPr>
              <a:pPr eaLnBrk="1" hangingPunct="1"/>
              <a:t>13</a:t>
            </a:fld>
            <a:endParaRPr lang="en-US" altLang="zh-CN" dirty="0">
              <a:latin typeface="Arial Black" pitchFamily="34" charset="0"/>
            </a:endParaRPr>
          </a:p>
        </p:txBody>
      </p:sp>
      <p:sp>
        <p:nvSpPr>
          <p:cNvPr id="15363" name="Text Box 2"/>
          <p:cNvSpPr txBox="1">
            <a:spLocks noChangeArrowheads="1"/>
          </p:cNvSpPr>
          <p:nvPr/>
        </p:nvSpPr>
        <p:spPr bwMode="auto">
          <a:xfrm>
            <a:off x="179388" y="549275"/>
            <a:ext cx="8713787" cy="88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charset="-122"/>
              </a:rPr>
              <a:t>2</a:t>
            </a:r>
            <a:r>
              <a:rPr lang="zh-CN" altLang="en-US" sz="2200" b="1" dirty="0">
                <a:solidFill>
                  <a:srgbClr val="FF3399"/>
                </a:solidFill>
                <a:latin typeface="宋体" charset="-122"/>
              </a:rPr>
              <a:t>、编译顶层文件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200" b="1" dirty="0">
                <a:latin typeface="宋体" charset="-122"/>
              </a:rPr>
              <a:t>   *选择菜单</a:t>
            </a:r>
            <a:r>
              <a:rPr lang="en-US" altLang="zh-CN" sz="2200" b="1" dirty="0" err="1">
                <a:latin typeface="宋体" charset="-122"/>
              </a:rPr>
              <a:t>Processing→Compiler</a:t>
            </a:r>
            <a:r>
              <a:rPr lang="en-US" altLang="zh-CN" sz="2200" b="1" dirty="0">
                <a:latin typeface="宋体" charset="-122"/>
              </a:rPr>
              <a:t> Tool</a:t>
            </a:r>
            <a:r>
              <a:rPr lang="zh-CN" altLang="en-US" sz="2200" b="1" dirty="0">
                <a:latin typeface="宋体" charset="-122"/>
              </a:rPr>
              <a:t>后，点击</a:t>
            </a:r>
            <a:r>
              <a:rPr lang="en-US" altLang="zh-CN" sz="2200" b="1" dirty="0">
                <a:latin typeface="宋体" charset="-122"/>
              </a:rPr>
              <a:t>Start</a:t>
            </a:r>
            <a:r>
              <a:rPr lang="zh-CN" altLang="en-US" sz="2200" b="1" dirty="0">
                <a:latin typeface="宋体" charset="-122"/>
              </a:rPr>
              <a:t>即可</a:t>
            </a:r>
          </a:p>
        </p:txBody>
      </p:sp>
      <p:pic>
        <p:nvPicPr>
          <p:cNvPr id="1536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1524000"/>
            <a:ext cx="5040312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5" name="Text Box 4"/>
          <p:cNvSpPr txBox="1">
            <a:spLocks noChangeArrowheads="1"/>
          </p:cNvSpPr>
          <p:nvPr/>
        </p:nvSpPr>
        <p:spPr bwMode="auto">
          <a:xfrm>
            <a:off x="179388" y="3859213"/>
            <a:ext cx="8713787" cy="88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200" b="1" dirty="0">
                <a:latin typeface="宋体" charset="-122"/>
              </a:rPr>
              <a:t>   *</a:t>
            </a:r>
            <a:r>
              <a:rPr lang="zh-CN" altLang="en-US" sz="2200" b="1" dirty="0">
                <a:latin typeface="宋体" charset="-122"/>
              </a:rPr>
              <a:t>编译结束时，会报告警告或错误的统计情况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200" b="1" dirty="0">
                <a:latin typeface="宋体" charset="-122"/>
              </a:rPr>
              <a:t>   *编译出错时，按</a:t>
            </a:r>
            <a:r>
              <a:rPr lang="en-US" altLang="zh-CN" sz="2200" b="1" dirty="0">
                <a:latin typeface="宋体" charset="-122"/>
              </a:rPr>
              <a:t>Message</a:t>
            </a:r>
            <a:r>
              <a:rPr lang="zh-CN" altLang="en-US" sz="2200" b="1" dirty="0">
                <a:latin typeface="宋体" charset="-122"/>
              </a:rPr>
              <a:t>提示修改错误，直至编译通过</a:t>
            </a:r>
          </a:p>
        </p:txBody>
      </p:sp>
      <p:pic>
        <p:nvPicPr>
          <p:cNvPr id="15366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4800600"/>
            <a:ext cx="4048125" cy="151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7" name="AutoShape 6"/>
          <p:cNvSpPr>
            <a:spLocks noChangeArrowheads="1"/>
          </p:cNvSpPr>
          <p:nvPr/>
        </p:nvSpPr>
        <p:spPr bwMode="auto">
          <a:xfrm>
            <a:off x="6804025" y="2124075"/>
            <a:ext cx="1728788" cy="1152525"/>
          </a:xfrm>
          <a:prstGeom prst="wedgeRectCallout">
            <a:avLst>
              <a:gd name="adj1" fmla="val -75247"/>
              <a:gd name="adj2" fmla="val -4015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54000" tIns="10800" rIns="54000" bIns="10800"/>
          <a:lstStyle/>
          <a:p>
            <a:pPr>
              <a:lnSpc>
                <a:spcPct val="115000"/>
              </a:lnSpc>
            </a:pPr>
            <a:r>
              <a:rPr lang="zh-CN" altLang="en-US" b="1" dirty="0">
                <a:latin typeface="宋体" charset="-122"/>
              </a:rPr>
              <a:t>提示：</a:t>
            </a:r>
          </a:p>
          <a:p>
            <a:pPr>
              <a:lnSpc>
                <a:spcPct val="115000"/>
              </a:lnSpc>
            </a:pPr>
            <a:r>
              <a:rPr lang="zh-CN" altLang="en-US" b="1" dirty="0">
                <a:latin typeface="宋体" charset="-122"/>
              </a:rPr>
              <a:t>  有多种方法触发编译开始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5791200" y="4980781"/>
            <a:ext cx="3048000" cy="1152525"/>
          </a:xfrm>
          <a:prstGeom prst="wedgeRectCallout">
            <a:avLst>
              <a:gd name="adj1" fmla="val -58584"/>
              <a:gd name="adj2" fmla="val -39522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54000" tIns="10800" rIns="54000" bIns="10800"/>
          <a:lstStyle/>
          <a:p>
            <a:pPr>
              <a:lnSpc>
                <a:spcPct val="115000"/>
              </a:lnSpc>
            </a:pPr>
            <a:r>
              <a:rPr lang="zh-CN" altLang="en-US" b="1" dirty="0">
                <a:latin typeface="宋体" charset="-122"/>
              </a:rPr>
              <a:t>提示：</a:t>
            </a:r>
          </a:p>
          <a:p>
            <a:pPr>
              <a:lnSpc>
                <a:spcPct val="115000"/>
              </a:lnSpc>
            </a:pPr>
            <a:r>
              <a:rPr lang="zh-CN" altLang="en-US" b="1" dirty="0">
                <a:latin typeface="宋体" charset="-122"/>
              </a:rPr>
              <a:t>  对于</a:t>
            </a:r>
            <a:r>
              <a:rPr lang="en-US" altLang="zh-CN" b="1" dirty="0">
                <a:latin typeface="宋体" charset="-122"/>
              </a:rPr>
              <a:t>I/O</a:t>
            </a:r>
            <a:r>
              <a:rPr lang="zh-CN" altLang="en-US" b="1" dirty="0">
                <a:latin typeface="宋体" charset="-122"/>
              </a:rPr>
              <a:t>引脚不够用错误，可通过设置为虚拟引脚解决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94ADF256-9C15-468F-892C-229761AB6DAB}" type="slidenum">
              <a:rPr lang="en-US" altLang="zh-CN" smtClean="0">
                <a:latin typeface="Arial Black" pitchFamily="34" charset="0"/>
              </a:rPr>
              <a:pPr eaLnBrk="1" hangingPunct="1"/>
              <a:t>14</a:t>
            </a:fld>
            <a:endParaRPr lang="en-US" altLang="zh-CN">
              <a:latin typeface="Arial Black" pitchFamily="34" charset="0"/>
            </a:endParaRPr>
          </a:p>
        </p:txBody>
      </p:sp>
      <p:sp>
        <p:nvSpPr>
          <p:cNvPr id="16387" name="Text Box 2"/>
          <p:cNvSpPr txBox="1">
            <a:spLocks noChangeArrowheads="1"/>
          </p:cNvSpPr>
          <p:nvPr/>
        </p:nvSpPr>
        <p:spPr bwMode="auto">
          <a:xfrm>
            <a:off x="179388" y="692150"/>
            <a:ext cx="8713787" cy="490519"/>
          </a:xfrm>
          <a:prstGeom prst="rect">
            <a:avLst/>
          </a:prstGeom>
          <a:solidFill>
            <a:srgbClr val="FFCC99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四、对电路文件进行仿真</a:t>
            </a:r>
          </a:p>
        </p:txBody>
      </p:sp>
      <p:sp>
        <p:nvSpPr>
          <p:cNvPr id="16388" name="Text Box 3"/>
          <p:cNvSpPr txBox="1">
            <a:spLocks noChangeArrowheads="1"/>
          </p:cNvSpPr>
          <p:nvPr/>
        </p:nvSpPr>
        <p:spPr bwMode="auto">
          <a:xfrm>
            <a:off x="174625" y="1752600"/>
            <a:ext cx="8664575" cy="1615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charset="-122"/>
              </a:rPr>
              <a:t>1</a:t>
            </a:r>
            <a:r>
              <a:rPr lang="zh-CN" altLang="en-US" sz="2200" b="1" dirty="0">
                <a:solidFill>
                  <a:srgbClr val="FF3399"/>
                </a:solidFill>
                <a:latin typeface="宋体" charset="-122"/>
              </a:rPr>
              <a:t>、建立用于仿真的波形文件</a:t>
            </a:r>
            <a:r>
              <a:rPr lang="zh-CN" altLang="en-US" sz="2200" b="1" dirty="0">
                <a:latin typeface="宋体" charset="-122"/>
              </a:rPr>
              <a:t> 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200" b="1" dirty="0">
                <a:solidFill>
                  <a:srgbClr val="CC3300"/>
                </a:solidFill>
                <a:latin typeface="宋体" charset="-122"/>
              </a:rPr>
              <a:t>⑴进入波形文件编辑器</a:t>
            </a:r>
          </a:p>
          <a:p>
            <a:pPr eaLnBrk="1" hangingPunct="1"/>
            <a:r>
              <a:rPr lang="zh-CN" altLang="en-US" sz="2200" b="1" dirty="0">
                <a:latin typeface="宋体" charset="-122"/>
              </a:rPr>
              <a:t>   选择菜单</a:t>
            </a:r>
            <a:r>
              <a:rPr lang="en-US" altLang="zh-CN" sz="2200" b="1" dirty="0" err="1">
                <a:latin typeface="宋体" charset="-122"/>
              </a:rPr>
              <a:t>File→New</a:t>
            </a:r>
            <a:r>
              <a:rPr lang="zh-CN" altLang="en-US" sz="2200" b="1" dirty="0">
                <a:latin typeface="宋体" charset="-122"/>
              </a:rPr>
              <a:t>，在对话框的</a:t>
            </a:r>
            <a:r>
              <a:rPr lang="en-US" altLang="zh-CN" sz="2200" b="1" dirty="0">
                <a:latin typeface="宋体" charset="-122"/>
              </a:rPr>
              <a:t>Other Files</a:t>
            </a:r>
            <a:r>
              <a:rPr lang="zh-CN" altLang="en-US" sz="2200" b="1" dirty="0">
                <a:latin typeface="宋体" charset="-122"/>
              </a:rPr>
              <a:t>中选择</a:t>
            </a:r>
            <a:r>
              <a:rPr lang="en-US" altLang="zh-CN" sz="2200" b="1" dirty="0">
                <a:latin typeface="宋体" charset="-122"/>
              </a:rPr>
              <a:t>Vector Waveform File</a:t>
            </a:r>
            <a:r>
              <a:rPr lang="zh-CN" altLang="en-US" sz="2200" b="1" dirty="0">
                <a:latin typeface="宋体" charset="-122"/>
              </a:rPr>
              <a:t>后，点击</a:t>
            </a:r>
            <a:r>
              <a:rPr lang="en-US" altLang="zh-CN" sz="2200" b="1" dirty="0">
                <a:latin typeface="宋体" charset="-122"/>
              </a:rPr>
              <a:t>OK</a:t>
            </a:r>
            <a:r>
              <a:rPr lang="zh-CN" altLang="en-US" sz="2200" b="1" dirty="0">
                <a:latin typeface="宋体" charset="-122"/>
              </a:rPr>
              <a:t>即可进入</a:t>
            </a:r>
          </a:p>
        </p:txBody>
      </p:sp>
      <p:pic>
        <p:nvPicPr>
          <p:cNvPr id="1638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3373438"/>
            <a:ext cx="3141663" cy="2763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0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100" y="3352800"/>
            <a:ext cx="4178300" cy="278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1" name="Text Box 3"/>
          <p:cNvSpPr txBox="1">
            <a:spLocks noChangeArrowheads="1"/>
          </p:cNvSpPr>
          <p:nvPr/>
        </p:nvSpPr>
        <p:spPr bwMode="auto">
          <a:xfrm>
            <a:off x="193675" y="1219200"/>
            <a:ext cx="8797925" cy="457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2200" b="1" dirty="0">
                <a:solidFill>
                  <a:srgbClr val="C00000"/>
                </a:solidFill>
                <a:latin typeface="宋体" charset="-122"/>
              </a:rPr>
              <a:t>  仿真过程：</a:t>
            </a:r>
            <a:r>
              <a:rPr lang="zh-CN" altLang="en-US" sz="2200" b="1" dirty="0">
                <a:latin typeface="宋体" charset="-122"/>
              </a:rPr>
              <a:t>建立波形文件→设置输入信号值→仿真→输出结果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B3638386-27B1-45EA-BE52-A4687C84FACA}" type="slidenum">
              <a:rPr lang="en-US" altLang="zh-CN" smtClean="0">
                <a:latin typeface="Arial Black" pitchFamily="34" charset="0"/>
              </a:rPr>
              <a:pPr eaLnBrk="1" hangingPunct="1"/>
              <a:t>15</a:t>
            </a:fld>
            <a:endParaRPr lang="en-US" altLang="zh-CN">
              <a:latin typeface="Arial Black" pitchFamily="34" charset="0"/>
            </a:endParaRPr>
          </a:p>
        </p:txBody>
      </p:sp>
      <p:sp>
        <p:nvSpPr>
          <p:cNvPr id="17411" name="Text Box 2"/>
          <p:cNvSpPr txBox="1">
            <a:spLocks noChangeArrowheads="1"/>
          </p:cNvSpPr>
          <p:nvPr/>
        </p:nvSpPr>
        <p:spPr bwMode="auto">
          <a:xfrm>
            <a:off x="179388" y="549275"/>
            <a:ext cx="8713787" cy="1303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200" b="1" dirty="0">
                <a:solidFill>
                  <a:srgbClr val="CC3300"/>
                </a:solidFill>
                <a:latin typeface="宋体" charset="-122"/>
              </a:rPr>
              <a:t>⑵</a:t>
            </a:r>
            <a:r>
              <a:rPr lang="zh-CN" altLang="en-US" sz="2200" b="1" dirty="0">
                <a:solidFill>
                  <a:srgbClr val="CC3300"/>
                </a:solidFill>
                <a:latin typeface="宋体" charset="-122"/>
              </a:rPr>
              <a:t>选择所需的</a:t>
            </a:r>
            <a:r>
              <a:rPr lang="en-US" altLang="zh-CN" sz="2200" b="1" dirty="0">
                <a:solidFill>
                  <a:srgbClr val="CC3300"/>
                </a:solidFill>
                <a:latin typeface="宋体" charset="-122"/>
              </a:rPr>
              <a:t>I/O</a:t>
            </a:r>
            <a:r>
              <a:rPr lang="zh-CN" altLang="en-US" sz="2200" b="1" dirty="0">
                <a:solidFill>
                  <a:srgbClr val="CC3300"/>
                </a:solidFill>
                <a:latin typeface="宋体" charset="-122"/>
              </a:rPr>
              <a:t>管脚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200" b="1" dirty="0">
                <a:latin typeface="宋体" charset="-122"/>
              </a:rPr>
              <a:t>   *在</a:t>
            </a:r>
            <a:r>
              <a:rPr lang="en-US" altLang="zh-CN" sz="2200" b="1" dirty="0">
                <a:latin typeface="宋体" charset="-122"/>
              </a:rPr>
              <a:t>Name</a:t>
            </a:r>
            <a:r>
              <a:rPr lang="zh-CN" altLang="en-US" sz="2200" b="1" dirty="0">
                <a:latin typeface="宋体" charset="-122"/>
              </a:rPr>
              <a:t>区域对应右键菜单中，从</a:t>
            </a:r>
            <a:r>
              <a:rPr lang="en-US" altLang="zh-CN" sz="2200" b="1" dirty="0">
                <a:latin typeface="宋体" charset="-122"/>
              </a:rPr>
              <a:t>Insert</a:t>
            </a:r>
            <a:r>
              <a:rPr lang="zh-CN" altLang="en-US" sz="2200" b="1" dirty="0">
                <a:latin typeface="宋体" charset="-122"/>
              </a:rPr>
              <a:t>打开</a:t>
            </a:r>
            <a:r>
              <a:rPr lang="en-US" altLang="zh-CN" sz="2200" b="1" dirty="0">
                <a:latin typeface="宋体" charset="-122"/>
              </a:rPr>
              <a:t>Insert Node or Bus</a:t>
            </a:r>
            <a:r>
              <a:rPr lang="zh-CN" altLang="en-US" sz="2200" b="1" dirty="0">
                <a:latin typeface="宋体" charset="-122"/>
              </a:rPr>
              <a:t>对话框，单击</a:t>
            </a:r>
            <a:r>
              <a:rPr lang="en-US" altLang="zh-CN" sz="2200" b="1" dirty="0">
                <a:latin typeface="宋体" charset="-122"/>
              </a:rPr>
              <a:t>Node Finder</a:t>
            </a:r>
          </a:p>
        </p:txBody>
      </p:sp>
      <p:pic>
        <p:nvPicPr>
          <p:cNvPr id="1741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313" y="1905000"/>
            <a:ext cx="6048375" cy="210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3632200"/>
            <a:ext cx="4032250" cy="268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88959651-ADA2-45E3-A4AE-A10E08252542}" type="slidenum">
              <a:rPr lang="en-US" altLang="zh-CN" smtClean="0">
                <a:latin typeface="Arial Black" pitchFamily="34" charset="0"/>
              </a:rPr>
              <a:pPr eaLnBrk="1" hangingPunct="1"/>
              <a:t>16</a:t>
            </a:fld>
            <a:endParaRPr lang="en-US" altLang="zh-CN">
              <a:latin typeface="Arial Black" pitchFamily="34" charset="0"/>
            </a:endParaRPr>
          </a:p>
        </p:txBody>
      </p:sp>
      <p:sp>
        <p:nvSpPr>
          <p:cNvPr id="18435" name="Text Box 2"/>
          <p:cNvSpPr txBox="1">
            <a:spLocks noChangeArrowheads="1"/>
          </p:cNvSpPr>
          <p:nvPr/>
        </p:nvSpPr>
        <p:spPr bwMode="auto">
          <a:xfrm>
            <a:off x="179388" y="573088"/>
            <a:ext cx="8713787" cy="88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200" b="1" dirty="0">
                <a:latin typeface="宋体" charset="-122"/>
              </a:rPr>
              <a:t>   *</a:t>
            </a:r>
            <a:r>
              <a:rPr lang="zh-CN" altLang="en-US" sz="2200" b="1" dirty="0">
                <a:latin typeface="宋体" charset="-122"/>
              </a:rPr>
              <a:t>在</a:t>
            </a:r>
            <a:r>
              <a:rPr lang="en-US" altLang="zh-CN" sz="2200" b="1" dirty="0">
                <a:latin typeface="宋体" charset="-122"/>
              </a:rPr>
              <a:t>Node Finder</a:t>
            </a:r>
            <a:r>
              <a:rPr lang="zh-CN" altLang="en-US" sz="2200" b="1" dirty="0">
                <a:latin typeface="宋体" charset="-122"/>
              </a:rPr>
              <a:t>对话框中，单击</a:t>
            </a:r>
            <a:r>
              <a:rPr lang="en-US" altLang="zh-CN" sz="2200" b="1" dirty="0">
                <a:latin typeface="宋体" charset="-122"/>
              </a:rPr>
              <a:t>List</a:t>
            </a:r>
            <a:r>
              <a:rPr lang="zh-CN" altLang="en-US" sz="2200" b="1" dirty="0">
                <a:latin typeface="宋体" charset="-122"/>
              </a:rPr>
              <a:t>后，可从左边选择所需的</a:t>
            </a:r>
            <a:r>
              <a:rPr lang="en-US" altLang="zh-CN" sz="2200" b="1" dirty="0">
                <a:latin typeface="宋体" charset="-122"/>
              </a:rPr>
              <a:t>I/O</a:t>
            </a:r>
            <a:r>
              <a:rPr lang="zh-CN" altLang="en-US" sz="2200" b="1" dirty="0">
                <a:latin typeface="宋体" charset="-122"/>
              </a:rPr>
              <a:t>管脚到右边</a:t>
            </a:r>
            <a:r>
              <a:rPr lang="en-US" altLang="zh-CN" sz="2200" b="1" dirty="0">
                <a:latin typeface="宋体" charset="-122"/>
              </a:rPr>
              <a:t>(Filter</a:t>
            </a:r>
            <a:r>
              <a:rPr lang="zh-CN" altLang="en-US" sz="2200" b="1" dirty="0">
                <a:latin typeface="宋体" charset="-122"/>
              </a:rPr>
              <a:t>应设置为</a:t>
            </a:r>
            <a:r>
              <a:rPr lang="en-US" altLang="zh-CN" sz="2200" b="1" dirty="0" err="1">
                <a:latin typeface="宋体" charset="-122"/>
              </a:rPr>
              <a:t>Pins:all</a:t>
            </a:r>
            <a:r>
              <a:rPr lang="en-US" altLang="zh-CN" sz="2200" b="1" dirty="0">
                <a:latin typeface="宋体" charset="-122"/>
              </a:rPr>
              <a:t>)</a:t>
            </a:r>
            <a:r>
              <a:rPr lang="zh-CN" altLang="en-US" sz="2200" b="1" dirty="0">
                <a:latin typeface="宋体" charset="-122"/>
              </a:rPr>
              <a:t>，点击</a:t>
            </a:r>
            <a:r>
              <a:rPr lang="en-US" altLang="zh-CN" sz="2200" b="1" dirty="0">
                <a:latin typeface="宋体" charset="-122"/>
              </a:rPr>
              <a:t>OK</a:t>
            </a:r>
            <a:r>
              <a:rPr lang="zh-CN" altLang="en-US" sz="2200" b="1" dirty="0">
                <a:latin typeface="宋体" charset="-122"/>
              </a:rPr>
              <a:t>返回</a:t>
            </a:r>
          </a:p>
        </p:txBody>
      </p:sp>
      <p:pic>
        <p:nvPicPr>
          <p:cNvPr id="1843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524000"/>
            <a:ext cx="5713412" cy="351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7" name="AutoShape 4"/>
          <p:cNvSpPr>
            <a:spLocks noChangeArrowheads="1"/>
          </p:cNvSpPr>
          <p:nvPr/>
        </p:nvSpPr>
        <p:spPr bwMode="auto">
          <a:xfrm>
            <a:off x="6629400" y="2271712"/>
            <a:ext cx="2133600" cy="1828800"/>
          </a:xfrm>
          <a:prstGeom prst="wedgeRectCallout">
            <a:avLst>
              <a:gd name="adj1" fmla="val -62676"/>
              <a:gd name="adj2" fmla="val -41966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54000" tIns="10800" rIns="54000" bIns="10800"/>
          <a:lstStyle/>
          <a:p>
            <a:pPr>
              <a:lnSpc>
                <a:spcPct val="115000"/>
              </a:lnSpc>
            </a:pPr>
            <a:r>
              <a:rPr lang="zh-CN" altLang="en-US" sz="2000" b="1" dirty="0">
                <a:latin typeface="宋体" charset="-122"/>
              </a:rPr>
              <a:t>提示：</a:t>
            </a:r>
          </a:p>
          <a:p>
            <a:pPr>
              <a:lnSpc>
                <a:spcPct val="115000"/>
              </a:lnSpc>
            </a:pPr>
            <a:r>
              <a:rPr lang="zh-CN" altLang="en-US" sz="2000" dirty="0">
                <a:latin typeface="宋体" charset="-122"/>
              </a:rPr>
              <a:t>  </a:t>
            </a:r>
            <a:r>
              <a:rPr lang="zh-CN" altLang="en-US" sz="2000" b="1" dirty="0">
                <a:latin typeface="宋体" charset="-122"/>
              </a:rPr>
              <a:t>*只可对</a:t>
            </a:r>
            <a:r>
              <a:rPr lang="zh-CN" altLang="en-US" sz="2000" b="1" u="sng" dirty="0">
                <a:solidFill>
                  <a:srgbClr val="FF33CC"/>
                </a:solidFill>
                <a:latin typeface="宋体" charset="-122"/>
              </a:rPr>
              <a:t>顶层文件</a:t>
            </a:r>
            <a:r>
              <a:rPr lang="zh-CN" altLang="en-US" sz="2000" b="1" dirty="0">
                <a:latin typeface="宋体" charset="-122"/>
              </a:rPr>
              <a:t>建立仿真文件</a:t>
            </a:r>
          </a:p>
          <a:p>
            <a:pPr>
              <a:lnSpc>
                <a:spcPct val="115000"/>
              </a:lnSpc>
            </a:pPr>
            <a:r>
              <a:rPr lang="zh-CN" altLang="en-US" sz="2000" b="1" dirty="0">
                <a:latin typeface="宋体" charset="-122"/>
              </a:rPr>
              <a:t>  *</a:t>
            </a:r>
            <a:r>
              <a:rPr lang="en-US" altLang="zh-CN" sz="2000" b="1" dirty="0">
                <a:latin typeface="宋体" charset="-122"/>
              </a:rPr>
              <a:t>Filter</a:t>
            </a:r>
            <a:r>
              <a:rPr lang="zh-CN" altLang="en-US" sz="2000" b="1" dirty="0">
                <a:latin typeface="宋体" charset="-122"/>
              </a:rPr>
              <a:t>可决定</a:t>
            </a:r>
            <a:r>
              <a:rPr lang="en-US" altLang="zh-CN" sz="2000" b="1" dirty="0">
                <a:latin typeface="宋体" charset="-122"/>
              </a:rPr>
              <a:t>Nodes Found</a:t>
            </a:r>
            <a:r>
              <a:rPr lang="zh-CN" altLang="en-US" sz="2000" b="1" dirty="0">
                <a:latin typeface="宋体" charset="-122"/>
              </a:rPr>
              <a:t>内容</a:t>
            </a:r>
          </a:p>
        </p:txBody>
      </p:sp>
      <p:sp>
        <p:nvSpPr>
          <p:cNvPr id="18438" name="Text Box 5"/>
          <p:cNvSpPr txBox="1">
            <a:spLocks noChangeArrowheads="1"/>
          </p:cNvSpPr>
          <p:nvPr/>
        </p:nvSpPr>
        <p:spPr bwMode="auto">
          <a:xfrm>
            <a:off x="179388" y="5159375"/>
            <a:ext cx="8713787" cy="88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200" b="1" dirty="0">
                <a:latin typeface="宋体" charset="-122"/>
              </a:rPr>
              <a:t>   *</a:t>
            </a:r>
            <a:r>
              <a:rPr lang="zh-CN" altLang="en-US" sz="2200" b="1" dirty="0">
                <a:latin typeface="宋体" charset="-122"/>
              </a:rPr>
              <a:t>回到</a:t>
            </a:r>
            <a:r>
              <a:rPr lang="en-US" altLang="zh-CN" sz="2200" b="1" dirty="0">
                <a:latin typeface="宋体" charset="-122"/>
              </a:rPr>
              <a:t>Insert Node or Bus</a:t>
            </a:r>
            <a:r>
              <a:rPr lang="zh-CN" altLang="en-US" sz="2200" b="1" dirty="0">
                <a:latin typeface="宋体" charset="-122"/>
              </a:rPr>
              <a:t>对话框后，点击</a:t>
            </a:r>
            <a:r>
              <a:rPr lang="en-US" altLang="zh-CN" sz="2200" b="1" dirty="0">
                <a:latin typeface="宋体" charset="-122"/>
              </a:rPr>
              <a:t>OK</a:t>
            </a:r>
            <a:r>
              <a:rPr lang="zh-CN" altLang="en-US" sz="2200" b="1" dirty="0">
                <a:latin typeface="宋体" charset="-122"/>
              </a:rPr>
              <a:t>完成选择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200" b="1" dirty="0">
                <a:latin typeface="宋体" charset="-122"/>
              </a:rPr>
              <a:t>   *保存该文件，即可实现波形文件</a:t>
            </a:r>
            <a:r>
              <a:rPr lang="en-US" altLang="zh-CN" sz="2200" b="1" dirty="0">
                <a:latin typeface="宋体" charset="-122"/>
              </a:rPr>
              <a:t>(.</a:t>
            </a:r>
            <a:r>
              <a:rPr lang="en-US" altLang="zh-CN" sz="2200" b="1" dirty="0" err="1">
                <a:latin typeface="宋体" charset="-122"/>
              </a:rPr>
              <a:t>vwf</a:t>
            </a:r>
            <a:r>
              <a:rPr lang="en-US" altLang="zh-CN" sz="2200" b="1" dirty="0">
                <a:latin typeface="宋体" charset="-122"/>
              </a:rPr>
              <a:t>)</a:t>
            </a:r>
            <a:r>
              <a:rPr lang="zh-CN" altLang="en-US" sz="2200" b="1" dirty="0">
                <a:latin typeface="宋体" charset="-122"/>
              </a:rPr>
              <a:t>的建立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C2E97D37-01A3-414D-BCCE-DBAE2CEEE7C1}" type="slidenum">
              <a:rPr lang="en-US" altLang="zh-CN" smtClean="0">
                <a:latin typeface="Arial Black" pitchFamily="34" charset="0"/>
              </a:rPr>
              <a:pPr eaLnBrk="1" hangingPunct="1"/>
              <a:t>17</a:t>
            </a:fld>
            <a:endParaRPr lang="en-US" altLang="zh-CN">
              <a:latin typeface="Arial Black" pitchFamily="34" charset="0"/>
            </a:endParaRPr>
          </a:p>
        </p:txBody>
      </p:sp>
      <p:sp>
        <p:nvSpPr>
          <p:cNvPr id="19459" name="Text Box 2"/>
          <p:cNvSpPr txBox="1">
            <a:spLocks noChangeArrowheads="1"/>
          </p:cNvSpPr>
          <p:nvPr/>
        </p:nvSpPr>
        <p:spPr bwMode="auto">
          <a:xfrm>
            <a:off x="179388" y="620713"/>
            <a:ext cx="8785225" cy="1740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charset="-122"/>
              </a:rPr>
              <a:t>2</a:t>
            </a:r>
            <a:r>
              <a:rPr lang="zh-CN" altLang="en-US" sz="2200" b="1" dirty="0">
                <a:solidFill>
                  <a:srgbClr val="FF3399"/>
                </a:solidFill>
                <a:latin typeface="宋体" charset="-122"/>
              </a:rPr>
              <a:t>、设置波形文件的仿真时间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200" b="1" dirty="0">
                <a:latin typeface="宋体" charset="-122"/>
              </a:rPr>
              <a:t>   *使当前窗口为波形文件，可显示波形文件编辑器的菜单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200" b="1" dirty="0">
                <a:latin typeface="宋体" charset="-122"/>
              </a:rPr>
              <a:t>   *选择菜单</a:t>
            </a:r>
            <a:r>
              <a:rPr lang="en-US" altLang="zh-CN" sz="2200" b="1" dirty="0" err="1">
                <a:latin typeface="宋体" charset="-122"/>
              </a:rPr>
              <a:t>Edit→End</a:t>
            </a:r>
            <a:r>
              <a:rPr lang="en-US" altLang="zh-CN" sz="2200" b="1" dirty="0">
                <a:latin typeface="宋体" charset="-122"/>
              </a:rPr>
              <a:t> Time</a:t>
            </a:r>
            <a:r>
              <a:rPr lang="zh-CN" altLang="en-US" sz="2200" b="1" dirty="0">
                <a:latin typeface="宋体" charset="-122"/>
              </a:rPr>
              <a:t>，在对话框中可设置结束时间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200" b="1" dirty="0">
                <a:latin typeface="宋体" charset="-122"/>
              </a:rPr>
              <a:t>   *选择菜单</a:t>
            </a:r>
            <a:r>
              <a:rPr lang="en-US" altLang="zh-CN" sz="2200" b="1" dirty="0" err="1">
                <a:latin typeface="宋体" charset="-122"/>
              </a:rPr>
              <a:t>Edit→Grid</a:t>
            </a:r>
            <a:r>
              <a:rPr lang="en-US" altLang="zh-CN" sz="2200" b="1" dirty="0">
                <a:latin typeface="宋体" charset="-122"/>
              </a:rPr>
              <a:t> Size</a:t>
            </a:r>
            <a:r>
              <a:rPr lang="zh-CN" altLang="en-US" sz="2200" b="1" dirty="0">
                <a:latin typeface="宋体" charset="-122"/>
              </a:rPr>
              <a:t>，</a:t>
            </a:r>
            <a:r>
              <a:rPr lang="zh-CN" altLang="en-US" sz="2200" b="1" dirty="0"/>
              <a:t>在对话框中可设置时间单位</a:t>
            </a:r>
          </a:p>
        </p:txBody>
      </p:sp>
      <p:pic>
        <p:nvPicPr>
          <p:cNvPr id="1946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5" y="2438400"/>
            <a:ext cx="2808288" cy="245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138" y="2438400"/>
            <a:ext cx="4535487" cy="247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2" name="Text Box 5"/>
          <p:cNvSpPr txBox="1">
            <a:spLocks noChangeArrowheads="1"/>
          </p:cNvSpPr>
          <p:nvPr/>
        </p:nvSpPr>
        <p:spPr bwMode="auto">
          <a:xfrm>
            <a:off x="179388" y="5029200"/>
            <a:ext cx="8713787" cy="457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200" b="1" dirty="0">
                <a:latin typeface="宋体" charset="-122"/>
              </a:rPr>
              <a:t>   </a:t>
            </a:r>
            <a:r>
              <a:rPr lang="en-US" altLang="zh-CN" sz="2200" b="1" dirty="0">
                <a:solidFill>
                  <a:srgbClr val="CC3300"/>
                </a:solidFill>
                <a:latin typeface="宋体" charset="-122"/>
              </a:rPr>
              <a:t>※</a:t>
            </a:r>
            <a:r>
              <a:rPr lang="zh-CN" altLang="en-US" sz="2200" b="1" dirty="0">
                <a:latin typeface="宋体" charset="-122"/>
              </a:rPr>
              <a:t>该步骤可省略，缺省值为</a:t>
            </a:r>
            <a:r>
              <a:rPr lang="en-US" altLang="zh-CN" sz="2200" b="1" dirty="0">
                <a:latin typeface="宋体" charset="-122"/>
              </a:rPr>
              <a:t>1us</a:t>
            </a:r>
            <a:r>
              <a:rPr lang="zh-CN" altLang="en-US" sz="2200" b="1" dirty="0">
                <a:latin typeface="宋体" charset="-122"/>
              </a:rPr>
              <a:t>及</a:t>
            </a:r>
            <a:r>
              <a:rPr lang="en-US" altLang="zh-CN" sz="2200" b="1" dirty="0">
                <a:latin typeface="宋体" charset="-122"/>
              </a:rPr>
              <a:t>10ns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E665DECB-D14D-4334-BB01-C5FC930E399E}" type="slidenum">
              <a:rPr lang="en-US" altLang="zh-CN" smtClean="0">
                <a:latin typeface="Arial Black" pitchFamily="34" charset="0"/>
              </a:rPr>
              <a:pPr eaLnBrk="1" hangingPunct="1"/>
              <a:t>18</a:t>
            </a:fld>
            <a:endParaRPr lang="en-US" altLang="zh-CN">
              <a:latin typeface="Arial Black" pitchFamily="34" charset="0"/>
            </a:endParaRPr>
          </a:p>
        </p:txBody>
      </p:sp>
      <p:sp>
        <p:nvSpPr>
          <p:cNvPr id="20483" name="Text Box 2"/>
          <p:cNvSpPr txBox="1">
            <a:spLocks noChangeArrowheads="1"/>
          </p:cNvSpPr>
          <p:nvPr/>
        </p:nvSpPr>
        <p:spPr bwMode="auto">
          <a:xfrm>
            <a:off x="179388" y="598488"/>
            <a:ext cx="8812212" cy="29965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2200" b="1" dirty="0">
                <a:solidFill>
                  <a:srgbClr val="FF3399"/>
                </a:solidFill>
                <a:latin typeface="宋体" pitchFamily="2" charset="-122"/>
                <a:ea typeface="宋体" pitchFamily="2" charset="-122"/>
              </a:rPr>
              <a:t>3</a:t>
            </a:r>
            <a:r>
              <a:rPr lang="zh-CN" altLang="en-US" sz="2200" b="1" dirty="0">
                <a:solidFill>
                  <a:srgbClr val="FF3399"/>
                </a:solidFill>
                <a:latin typeface="宋体" pitchFamily="2" charset="-122"/>
                <a:ea typeface="宋体" pitchFamily="2" charset="-122"/>
              </a:rPr>
              <a:t>、设置波形文件的输入信号波形</a:t>
            </a:r>
            <a:endParaRPr lang="en-US" altLang="zh-CN" sz="2200" b="1" dirty="0">
              <a:solidFill>
                <a:srgbClr val="FF3399"/>
              </a:solidFill>
              <a:latin typeface="宋体" pitchFamily="2" charset="-122"/>
              <a:ea typeface="宋体" pitchFamily="2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en-US" sz="2200" b="1" dirty="0">
                <a:solidFill>
                  <a:srgbClr val="800080"/>
                </a:solidFill>
                <a:latin typeface="宋体" pitchFamily="2" charset="-122"/>
                <a:ea typeface="宋体" pitchFamily="2" charset="-122"/>
              </a:rPr>
              <a:t>   *</a:t>
            </a:r>
            <a:r>
              <a:rPr lang="zh-CN" altLang="en-US" sz="2200" b="1" u="sng" dirty="0">
                <a:solidFill>
                  <a:srgbClr val="800080"/>
                </a:solidFill>
                <a:latin typeface="宋体" pitchFamily="2" charset="-122"/>
                <a:ea typeface="宋体" pitchFamily="2" charset="-122"/>
              </a:rPr>
              <a:t>调整</a:t>
            </a:r>
            <a:r>
              <a:rPr lang="zh-CN" altLang="en-US" sz="2200" b="1" dirty="0">
                <a:latin typeface="宋体" pitchFamily="2" charset="-122"/>
                <a:ea typeface="宋体" pitchFamily="2" charset="-122"/>
              </a:rPr>
              <a:t>显示区域及比例，按下</a:t>
            </a:r>
            <a:r>
              <a:rPr lang="en-US" altLang="zh-CN" sz="2200" b="1" dirty="0">
                <a:latin typeface="宋体" pitchFamily="2" charset="-122"/>
                <a:ea typeface="宋体" pitchFamily="2" charset="-122"/>
              </a:rPr>
              <a:t>Zoom Tool</a:t>
            </a:r>
            <a:r>
              <a:rPr lang="zh-CN" altLang="en-US" sz="2200" b="1" dirty="0">
                <a:latin typeface="宋体" pitchFamily="2" charset="-122"/>
                <a:ea typeface="宋体" pitchFamily="2" charset="-122"/>
              </a:rPr>
              <a:t>后用鼠标左右键实现</a:t>
            </a:r>
          </a:p>
          <a:p>
            <a:pPr>
              <a:lnSpc>
                <a:spcPct val="125000"/>
              </a:lnSpc>
              <a:defRPr/>
            </a:pPr>
            <a:r>
              <a:rPr lang="zh-CN" altLang="en-US" sz="2200" b="1" dirty="0">
                <a:solidFill>
                  <a:srgbClr val="800080"/>
                </a:solidFill>
                <a:latin typeface="宋体" pitchFamily="2" charset="-122"/>
                <a:ea typeface="宋体" pitchFamily="2" charset="-122"/>
              </a:rPr>
              <a:t>   *</a:t>
            </a:r>
            <a:r>
              <a:rPr lang="zh-CN" altLang="en-US" sz="2200" b="1" u="sng" dirty="0">
                <a:solidFill>
                  <a:srgbClr val="800080"/>
                </a:solidFill>
                <a:latin typeface="宋体" pitchFamily="2" charset="-122"/>
                <a:ea typeface="宋体" pitchFamily="2" charset="-122"/>
              </a:rPr>
              <a:t>设置</a:t>
            </a:r>
            <a:r>
              <a:rPr lang="zh-CN" altLang="en-US" sz="2200" b="1" dirty="0">
                <a:latin typeface="宋体" pitchFamily="2" charset="-122"/>
                <a:ea typeface="宋体" pitchFamily="2" charset="-122"/>
              </a:rPr>
              <a:t>各个输入管脚的信号波形</a:t>
            </a:r>
            <a:endParaRPr lang="en-US" altLang="zh-CN" sz="2200" b="1" dirty="0">
              <a:latin typeface="宋体" pitchFamily="2" charset="-122"/>
              <a:ea typeface="宋体" pitchFamily="2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22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</a:rPr>
              <a:t>      </a:t>
            </a:r>
            <a:r>
              <a:rPr lang="zh-CN" altLang="en-US" sz="22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</a:rPr>
              <a:t>选择起止时间：</a:t>
            </a:r>
            <a:r>
              <a:rPr lang="zh-CN" altLang="en-US" sz="2200" b="1" u="sng" dirty="0">
                <a:latin typeface="宋体" charset="-122"/>
              </a:rPr>
              <a:t>按下</a:t>
            </a:r>
            <a:r>
              <a:rPr lang="zh-CN" altLang="en-US" sz="2200" b="1" dirty="0">
                <a:latin typeface="宋体" charset="-122"/>
              </a:rPr>
              <a:t>鼠标左键、</a:t>
            </a:r>
            <a:r>
              <a:rPr lang="zh-CN" altLang="en-US" sz="2200" b="1" u="sng" dirty="0">
                <a:latin typeface="宋体" charset="-122"/>
              </a:rPr>
              <a:t>拖至</a:t>
            </a:r>
            <a:r>
              <a:rPr lang="zh-CN" altLang="en-US" sz="2200" b="1" dirty="0">
                <a:latin typeface="宋体" charset="-122"/>
              </a:rPr>
              <a:t>目标处松开</a:t>
            </a:r>
            <a:endParaRPr lang="en-US" altLang="zh-CN" sz="2200" b="1" dirty="0">
              <a:latin typeface="宋体" pitchFamily="2" charset="-122"/>
              <a:ea typeface="宋体" pitchFamily="2" charset="-122"/>
            </a:endParaRPr>
          </a:p>
          <a:p>
            <a:pPr marL="1433513" indent="-1433513">
              <a:lnSpc>
                <a:spcPct val="125000"/>
              </a:lnSpc>
              <a:defRPr/>
            </a:pPr>
            <a:r>
              <a:rPr lang="zh-CN" altLang="en-US" sz="22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</a:rPr>
              <a:t>      设置拟定值：</a:t>
            </a:r>
            <a:r>
              <a:rPr lang="en-US" altLang="zh-CN" sz="2200" b="1" dirty="0">
                <a:latin typeface="宋体" pitchFamily="2" charset="-122"/>
                <a:ea typeface="宋体" pitchFamily="2" charset="-122"/>
              </a:rPr>
              <a:t>Node</a:t>
            </a:r>
            <a:r>
              <a:rPr lang="zh-CN" altLang="en-US" sz="2200" b="1" dirty="0">
                <a:latin typeface="宋体" pitchFamily="2" charset="-122"/>
                <a:ea typeface="宋体" pitchFamily="2" charset="-122"/>
              </a:rPr>
              <a:t>型用工具箱的</a:t>
            </a:r>
            <a:r>
              <a:rPr lang="en-US" altLang="zh-CN" sz="2200" b="1" dirty="0">
                <a:latin typeface="宋体" pitchFamily="2" charset="-122"/>
                <a:ea typeface="宋体" pitchFamily="2" charset="-122"/>
              </a:rPr>
              <a:t>1</a:t>
            </a:r>
            <a:r>
              <a:rPr lang="zh-CN" altLang="en-US" sz="2200" b="1" dirty="0">
                <a:latin typeface="宋体" pitchFamily="2" charset="-122"/>
                <a:ea typeface="宋体" pitchFamily="2" charset="-122"/>
              </a:rPr>
              <a:t>、</a:t>
            </a:r>
            <a:r>
              <a:rPr lang="en-US" altLang="zh-CN" sz="2200" b="1" dirty="0">
                <a:latin typeface="宋体" pitchFamily="2" charset="-122"/>
                <a:ea typeface="宋体" pitchFamily="2" charset="-122"/>
              </a:rPr>
              <a:t>0</a:t>
            </a:r>
            <a:r>
              <a:rPr lang="zh-CN" altLang="en-US" sz="2200" b="1" dirty="0">
                <a:latin typeface="宋体" pitchFamily="2" charset="-122"/>
                <a:ea typeface="宋体" pitchFamily="2" charset="-122"/>
              </a:rPr>
              <a:t>实现</a:t>
            </a:r>
            <a:endParaRPr lang="en-US" altLang="zh-CN" sz="2200" b="1" dirty="0">
              <a:latin typeface="宋体" pitchFamily="2" charset="-122"/>
              <a:ea typeface="宋体" pitchFamily="2" charset="-122"/>
            </a:endParaRPr>
          </a:p>
          <a:p>
            <a:pPr marL="1433513" indent="-1433513">
              <a:lnSpc>
                <a:spcPct val="125000"/>
              </a:lnSpc>
              <a:defRPr/>
            </a:pPr>
            <a:r>
              <a:rPr lang="en-US" altLang="zh-CN" sz="2200" b="1" dirty="0">
                <a:latin typeface="宋体" pitchFamily="2" charset="-122"/>
                <a:ea typeface="宋体" pitchFamily="2" charset="-122"/>
              </a:rPr>
              <a:t>                  Bus</a:t>
            </a:r>
            <a:r>
              <a:rPr lang="zh-CN" altLang="en-US" sz="2200" b="1" dirty="0">
                <a:latin typeface="宋体" pitchFamily="2" charset="-122"/>
                <a:ea typeface="宋体" pitchFamily="2" charset="-122"/>
              </a:rPr>
              <a:t>型用右键菜单</a:t>
            </a:r>
            <a:r>
              <a:rPr lang="en-US" altLang="zh-CN" sz="2200" b="1" dirty="0" err="1">
                <a:latin typeface="宋体" pitchFamily="2" charset="-122"/>
                <a:ea typeface="宋体" pitchFamily="2" charset="-122"/>
              </a:rPr>
              <a:t>Value→Arbitrary</a:t>
            </a:r>
            <a:r>
              <a:rPr lang="en-US" altLang="zh-CN" sz="2200" b="1" dirty="0">
                <a:latin typeface="宋体" pitchFamily="2" charset="-122"/>
                <a:ea typeface="宋体" pitchFamily="2" charset="-122"/>
              </a:rPr>
              <a:t> Value</a:t>
            </a:r>
            <a:r>
              <a:rPr lang="zh-CN" altLang="en-US" sz="2200" b="1" dirty="0">
                <a:latin typeface="宋体" pitchFamily="2" charset="-122"/>
                <a:ea typeface="宋体" pitchFamily="2" charset="-122"/>
              </a:rPr>
              <a:t>实现，</a:t>
            </a:r>
            <a:endParaRPr lang="en-US" altLang="zh-CN" sz="2200" b="1" dirty="0">
              <a:latin typeface="宋体" pitchFamily="2" charset="-122"/>
              <a:ea typeface="宋体" pitchFamily="2" charset="-122"/>
            </a:endParaRPr>
          </a:p>
          <a:p>
            <a:pPr marL="1433513" indent="-1433513">
              <a:lnSpc>
                <a:spcPct val="125000"/>
              </a:lnSpc>
              <a:defRPr/>
            </a:pPr>
            <a:r>
              <a:rPr lang="en-US" altLang="zh-CN" sz="2200" b="1" dirty="0">
                <a:latin typeface="宋体" pitchFamily="2" charset="-122"/>
                <a:ea typeface="宋体" pitchFamily="2" charset="-122"/>
              </a:rPr>
              <a:t>                       </a:t>
            </a:r>
            <a:r>
              <a:rPr lang="zh-CN" altLang="en-US" sz="2200" b="1" dirty="0">
                <a:latin typeface="宋体" pitchFamily="2" charset="-122"/>
                <a:ea typeface="宋体" pitchFamily="2" charset="-122"/>
              </a:rPr>
              <a:t>或双击鼠标左键实现</a:t>
            </a:r>
            <a:endParaRPr lang="en-US" altLang="zh-CN" sz="2200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485" name="AutoShape 4"/>
          <p:cNvSpPr>
            <a:spLocks noChangeArrowheads="1"/>
          </p:cNvSpPr>
          <p:nvPr/>
        </p:nvSpPr>
        <p:spPr bwMode="auto">
          <a:xfrm>
            <a:off x="6443663" y="4267201"/>
            <a:ext cx="2449512" cy="1295399"/>
          </a:xfrm>
          <a:prstGeom prst="wedgeRectCallout">
            <a:avLst>
              <a:gd name="adj1" fmla="val -60000"/>
              <a:gd name="adj2" fmla="val -44904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54000" tIns="10800" rIns="54000" bIns="10800"/>
          <a:lstStyle/>
          <a:p>
            <a:pPr>
              <a:lnSpc>
                <a:spcPct val="115000"/>
              </a:lnSpc>
            </a:pPr>
            <a:r>
              <a:rPr lang="zh-CN" altLang="en-US" b="1" dirty="0">
                <a:latin typeface="宋体" charset="-122"/>
              </a:rPr>
              <a:t>提示：</a:t>
            </a:r>
          </a:p>
          <a:p>
            <a:pPr>
              <a:lnSpc>
                <a:spcPct val="115000"/>
              </a:lnSpc>
            </a:pPr>
            <a:r>
              <a:rPr lang="zh-CN" altLang="en-US" dirty="0">
                <a:latin typeface="宋体" charset="-122"/>
              </a:rPr>
              <a:t>  </a:t>
            </a:r>
            <a:r>
              <a:rPr lang="zh-CN" altLang="en-US" b="1" dirty="0">
                <a:latin typeface="宋体" charset="-122"/>
              </a:rPr>
              <a:t>管脚可以分组，以简化设置信号值的繁杂程度 </a:t>
            </a:r>
            <a:r>
              <a:rPr lang="en-US" altLang="zh-CN" b="1" dirty="0">
                <a:latin typeface="宋体" charset="-122"/>
              </a:rPr>
              <a:t>(</a:t>
            </a:r>
            <a:r>
              <a:rPr lang="en-US" altLang="zh-CN" b="1" dirty="0" err="1">
                <a:latin typeface="宋体" charset="-122"/>
              </a:rPr>
              <a:t>Edit→Grouping</a:t>
            </a:r>
            <a:r>
              <a:rPr lang="en-US" altLang="zh-CN" b="1" dirty="0">
                <a:latin typeface="宋体" charset="-122"/>
              </a:rPr>
              <a:t>)</a:t>
            </a:r>
          </a:p>
        </p:txBody>
      </p:sp>
      <p:sp>
        <p:nvSpPr>
          <p:cNvPr id="20486" name="Text Box 5"/>
          <p:cNvSpPr txBox="1">
            <a:spLocks noChangeArrowheads="1"/>
          </p:cNvSpPr>
          <p:nvPr/>
        </p:nvSpPr>
        <p:spPr bwMode="auto">
          <a:xfrm>
            <a:off x="179388" y="5715000"/>
            <a:ext cx="8713787" cy="457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200" b="1" dirty="0">
                <a:solidFill>
                  <a:srgbClr val="800080"/>
                </a:solidFill>
                <a:latin typeface="宋体" charset="-122"/>
              </a:rPr>
              <a:t>   *</a:t>
            </a:r>
            <a:r>
              <a:rPr lang="zh-CN" altLang="en-US" sz="2200" b="1" u="sng" dirty="0">
                <a:solidFill>
                  <a:srgbClr val="800080"/>
                </a:solidFill>
                <a:latin typeface="宋体" charset="-122"/>
              </a:rPr>
              <a:t>保存</a:t>
            </a:r>
            <a:r>
              <a:rPr lang="zh-CN" altLang="en-US" sz="2200" b="1" dirty="0">
                <a:latin typeface="宋体" charset="-122"/>
              </a:rPr>
              <a:t>所设置的波形信号到文件中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350" y="3581400"/>
            <a:ext cx="4895850" cy="20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A89CDC4A-F140-4823-BBFE-3618DD274F58}" type="slidenum">
              <a:rPr lang="en-US" altLang="zh-CN" smtClean="0">
                <a:latin typeface="Arial Black" pitchFamily="34" charset="0"/>
              </a:rPr>
              <a:pPr eaLnBrk="1" hangingPunct="1"/>
              <a:t>19</a:t>
            </a:fld>
            <a:endParaRPr lang="en-US" altLang="zh-CN">
              <a:latin typeface="Arial Black" pitchFamily="34" charset="0"/>
            </a:endParaRPr>
          </a:p>
        </p:txBody>
      </p:sp>
      <p:sp>
        <p:nvSpPr>
          <p:cNvPr id="21507" name="Text Box 2"/>
          <p:cNvSpPr txBox="1">
            <a:spLocks noChangeArrowheads="1"/>
          </p:cNvSpPr>
          <p:nvPr/>
        </p:nvSpPr>
        <p:spPr bwMode="auto">
          <a:xfrm>
            <a:off x="179388" y="549275"/>
            <a:ext cx="8713787" cy="2150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charset="-122"/>
              </a:rPr>
              <a:t>4</a:t>
            </a:r>
            <a:r>
              <a:rPr lang="zh-CN" altLang="en-US" sz="2200" b="1" dirty="0">
                <a:solidFill>
                  <a:srgbClr val="FF3399"/>
                </a:solidFill>
                <a:latin typeface="宋体" charset="-122"/>
              </a:rPr>
              <a:t>、进行功能仿真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200" b="1" dirty="0">
                <a:solidFill>
                  <a:srgbClr val="CC3300"/>
                </a:solidFill>
                <a:latin typeface="宋体" charset="-122"/>
              </a:rPr>
              <a:t>⑴生成功能仿真网表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200" b="1" dirty="0">
                <a:latin typeface="宋体" charset="-122"/>
              </a:rPr>
              <a:t>   *选择菜单</a:t>
            </a:r>
            <a:r>
              <a:rPr lang="en-US" altLang="zh-CN" sz="2200" b="1" dirty="0" err="1">
                <a:latin typeface="宋体" charset="-122"/>
              </a:rPr>
              <a:t>Processing→Simulator</a:t>
            </a:r>
            <a:r>
              <a:rPr lang="en-US" altLang="zh-CN" sz="2200" b="1" dirty="0">
                <a:latin typeface="宋体" charset="-122"/>
              </a:rPr>
              <a:t> Tool</a:t>
            </a:r>
            <a:r>
              <a:rPr lang="zh-CN" altLang="en-US" sz="2200" b="1" dirty="0">
                <a:latin typeface="宋体" charset="-122"/>
              </a:rPr>
              <a:t>，弹出相应对话框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200" b="1" dirty="0">
                <a:latin typeface="宋体" charset="-122"/>
              </a:rPr>
              <a:t>   *在对话框中选择</a:t>
            </a:r>
            <a:r>
              <a:rPr lang="en-US" altLang="zh-CN" sz="2200" b="1" dirty="0">
                <a:solidFill>
                  <a:srgbClr val="FF33CC"/>
                </a:solidFill>
                <a:latin typeface="宋体" charset="-122"/>
              </a:rPr>
              <a:t>Functional</a:t>
            </a:r>
            <a:r>
              <a:rPr lang="zh-CN" altLang="en-US" sz="2200" b="1" dirty="0">
                <a:latin typeface="宋体" charset="-122"/>
              </a:rPr>
              <a:t>后，单击</a:t>
            </a:r>
            <a:r>
              <a:rPr lang="en-US" altLang="zh-CN" sz="2200" b="1" dirty="0">
                <a:latin typeface="宋体" charset="-122"/>
              </a:rPr>
              <a:t>Generate Functional Simulation Netlist</a:t>
            </a:r>
            <a:r>
              <a:rPr lang="zh-CN" altLang="en-US" sz="2200" b="1" dirty="0">
                <a:latin typeface="宋体" charset="-122"/>
              </a:rPr>
              <a:t>，即可生成</a:t>
            </a:r>
            <a:r>
              <a:rPr lang="zh-CN" altLang="en-US" sz="2200" b="1" u="sng" dirty="0">
                <a:latin typeface="宋体" charset="-122"/>
              </a:rPr>
              <a:t>顶层文件的</a:t>
            </a:r>
            <a:r>
              <a:rPr lang="zh-CN" altLang="en-US" sz="2200" b="1" dirty="0">
                <a:latin typeface="宋体" charset="-122"/>
              </a:rPr>
              <a:t>功能仿真网表</a:t>
            </a:r>
          </a:p>
        </p:txBody>
      </p:sp>
      <p:pic>
        <p:nvPicPr>
          <p:cNvPr id="2150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2743200"/>
            <a:ext cx="5256213" cy="208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AutoShape 4"/>
          <p:cNvSpPr>
            <a:spLocks noChangeArrowheads="1"/>
          </p:cNvSpPr>
          <p:nvPr/>
        </p:nvSpPr>
        <p:spPr bwMode="auto">
          <a:xfrm>
            <a:off x="6445250" y="3171825"/>
            <a:ext cx="2303463" cy="1400175"/>
          </a:xfrm>
          <a:prstGeom prst="wedgeRectCallout">
            <a:avLst>
              <a:gd name="adj1" fmla="val -58133"/>
              <a:gd name="adj2" fmla="val -42339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54000" tIns="10800" rIns="54000" bIns="10800"/>
          <a:lstStyle/>
          <a:p>
            <a:pPr>
              <a:lnSpc>
                <a:spcPct val="115000"/>
              </a:lnSpc>
            </a:pPr>
            <a:r>
              <a:rPr lang="zh-CN" altLang="en-US" b="1" dirty="0">
                <a:latin typeface="宋体" charset="-122"/>
              </a:rPr>
              <a:t>提示：</a:t>
            </a:r>
          </a:p>
          <a:p>
            <a:pPr>
              <a:lnSpc>
                <a:spcPct val="115000"/>
              </a:lnSpc>
            </a:pPr>
            <a:r>
              <a:rPr lang="zh-CN" altLang="en-US" b="1" dirty="0">
                <a:latin typeface="宋体" charset="-122"/>
              </a:rPr>
              <a:t>  修改原理图文件后，必须重新编译、重新生成仿真网表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7C23A8D5-2BD7-4CFC-A3F0-155C50A34B25}" type="slidenum">
              <a:rPr lang="en-US" altLang="zh-CN" smtClean="0">
                <a:latin typeface="Arial Black" pitchFamily="34" charset="0"/>
              </a:rPr>
              <a:pPr eaLnBrk="1" hangingPunct="1"/>
              <a:t>20</a:t>
            </a:fld>
            <a:endParaRPr lang="en-US" altLang="zh-CN">
              <a:latin typeface="Arial Black" pitchFamily="34" charset="0"/>
            </a:endParaRPr>
          </a:p>
        </p:txBody>
      </p:sp>
      <p:sp>
        <p:nvSpPr>
          <p:cNvPr id="22531" name="Text Box 2"/>
          <p:cNvSpPr txBox="1">
            <a:spLocks noChangeArrowheads="1"/>
          </p:cNvSpPr>
          <p:nvPr/>
        </p:nvSpPr>
        <p:spPr bwMode="auto">
          <a:xfrm>
            <a:off x="179388" y="549275"/>
            <a:ext cx="8713787" cy="1726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200" b="1" dirty="0">
                <a:solidFill>
                  <a:srgbClr val="CC3300"/>
                </a:solidFill>
                <a:latin typeface="宋体" charset="-122"/>
              </a:rPr>
              <a:t>⑵</a:t>
            </a:r>
            <a:r>
              <a:rPr lang="zh-CN" altLang="en-US" sz="2200" b="1" dirty="0">
                <a:solidFill>
                  <a:srgbClr val="CC3300"/>
                </a:solidFill>
                <a:latin typeface="宋体" charset="-122"/>
              </a:rPr>
              <a:t>进行功能仿真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200" b="1" dirty="0">
                <a:latin typeface="宋体" charset="-122"/>
              </a:rPr>
              <a:t>   *在对话框的</a:t>
            </a:r>
            <a:r>
              <a:rPr lang="en-US" altLang="zh-CN" sz="2200" b="1" dirty="0">
                <a:latin typeface="宋体" charset="-122"/>
              </a:rPr>
              <a:t>Simulator input</a:t>
            </a:r>
            <a:r>
              <a:rPr lang="zh-CN" altLang="en-US" sz="2200" b="1" dirty="0">
                <a:latin typeface="宋体" charset="-122"/>
              </a:rPr>
              <a:t>中输入仿真波形文件名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200" b="1" dirty="0">
                <a:latin typeface="宋体" charset="-122"/>
              </a:rPr>
              <a:t>   *在对话框中单击</a:t>
            </a:r>
            <a:r>
              <a:rPr lang="en-US" altLang="zh-CN" sz="2200" b="1" dirty="0">
                <a:latin typeface="宋体" charset="-122"/>
              </a:rPr>
              <a:t>Start</a:t>
            </a:r>
            <a:r>
              <a:rPr lang="zh-CN" altLang="en-US" sz="2200" b="1" dirty="0">
                <a:latin typeface="宋体" charset="-122"/>
              </a:rPr>
              <a:t>，即可开始功能仿真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200" b="1" dirty="0">
                <a:latin typeface="宋体" charset="-122"/>
              </a:rPr>
              <a:t>   *在对话框中单击</a:t>
            </a:r>
            <a:r>
              <a:rPr lang="en-US" altLang="zh-CN" sz="2200" b="1" dirty="0">
                <a:latin typeface="宋体" charset="-122"/>
              </a:rPr>
              <a:t>Report</a:t>
            </a:r>
            <a:r>
              <a:rPr lang="zh-CN" altLang="en-US" sz="2200" b="1" dirty="0">
                <a:latin typeface="宋体" charset="-122"/>
              </a:rPr>
              <a:t>，可查看、核对输出波形</a:t>
            </a:r>
          </a:p>
        </p:txBody>
      </p:sp>
      <p:grpSp>
        <p:nvGrpSpPr>
          <p:cNvPr id="22532" name="Group 3"/>
          <p:cNvGrpSpPr>
            <a:grpSpLocks/>
          </p:cNvGrpSpPr>
          <p:nvPr/>
        </p:nvGrpSpPr>
        <p:grpSpPr bwMode="auto">
          <a:xfrm>
            <a:off x="827088" y="2362200"/>
            <a:ext cx="7704137" cy="2946400"/>
            <a:chOff x="521" y="1616"/>
            <a:chExt cx="4853" cy="1856"/>
          </a:xfrm>
        </p:grpSpPr>
        <p:pic>
          <p:nvPicPr>
            <p:cNvPr id="22533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" y="1616"/>
              <a:ext cx="4853" cy="18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534" name="Rectangle 5"/>
            <p:cNvSpPr>
              <a:spLocks noChangeArrowheads="1"/>
            </p:cNvSpPr>
            <p:nvPr/>
          </p:nvSpPr>
          <p:spPr bwMode="auto">
            <a:xfrm>
              <a:off x="1610" y="3204"/>
              <a:ext cx="3266" cy="181"/>
            </a:xfrm>
            <a:prstGeom prst="rect">
              <a:avLst/>
            </a:prstGeom>
            <a:noFill/>
            <a:ln w="19050">
              <a:solidFill>
                <a:srgbClr val="FF3399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D051B664-B051-4563-A67B-029958F115D6}" type="slidenum">
              <a:rPr lang="en-US" altLang="zh-CN" smtClean="0">
                <a:latin typeface="Arial Black" pitchFamily="34" charset="0"/>
              </a:rPr>
              <a:pPr eaLnBrk="1" hangingPunct="1"/>
              <a:t>21</a:t>
            </a:fld>
            <a:endParaRPr lang="en-US" altLang="zh-CN">
              <a:latin typeface="Arial Black" pitchFamily="34" charset="0"/>
            </a:endParaRPr>
          </a:p>
        </p:txBody>
      </p:sp>
      <p:sp>
        <p:nvSpPr>
          <p:cNvPr id="23555" name="Text Box 2"/>
          <p:cNvSpPr txBox="1">
            <a:spLocks noChangeArrowheads="1"/>
          </p:cNvSpPr>
          <p:nvPr/>
        </p:nvSpPr>
        <p:spPr bwMode="auto">
          <a:xfrm>
            <a:off x="179388" y="609600"/>
            <a:ext cx="8713787" cy="490519"/>
          </a:xfrm>
          <a:prstGeom prst="rect">
            <a:avLst/>
          </a:prstGeom>
          <a:solidFill>
            <a:srgbClr val="FFCC99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五、将原理图文件下载到</a:t>
            </a:r>
            <a:r>
              <a:rPr lang="en-US" altLang="zh-CN" sz="24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FPGA</a:t>
            </a:r>
            <a:r>
              <a:rPr lang="zh-CN" altLang="en-US" sz="24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芯片中</a:t>
            </a:r>
          </a:p>
        </p:txBody>
      </p:sp>
      <p:sp>
        <p:nvSpPr>
          <p:cNvPr id="23556" name="Text Box 3"/>
          <p:cNvSpPr txBox="1">
            <a:spLocks noChangeArrowheads="1"/>
          </p:cNvSpPr>
          <p:nvPr/>
        </p:nvSpPr>
        <p:spPr bwMode="auto">
          <a:xfrm>
            <a:off x="250825" y="1143000"/>
            <a:ext cx="8569325" cy="1726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charset="-122"/>
              </a:rPr>
              <a:t>1</a:t>
            </a:r>
            <a:r>
              <a:rPr lang="zh-CN" altLang="en-US" sz="2200" b="1" dirty="0">
                <a:solidFill>
                  <a:srgbClr val="FF3399"/>
                </a:solidFill>
                <a:latin typeface="宋体" charset="-122"/>
              </a:rPr>
              <a:t>、器件设置及引脚分配</a:t>
            </a:r>
            <a:r>
              <a:rPr lang="zh-CN" altLang="en-US" sz="2200" b="1" dirty="0">
                <a:latin typeface="宋体" charset="-122"/>
              </a:rPr>
              <a:t> 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200" b="1" dirty="0">
                <a:solidFill>
                  <a:srgbClr val="CC3300"/>
                </a:solidFill>
                <a:latin typeface="宋体" charset="-122"/>
              </a:rPr>
              <a:t>⑴器件设置      </a:t>
            </a:r>
            <a:r>
              <a:rPr lang="en-US" altLang="zh-CN" sz="2200" b="1" dirty="0">
                <a:latin typeface="宋体" charset="-122"/>
              </a:rPr>
              <a:t>[</a:t>
            </a:r>
            <a:r>
              <a:rPr lang="zh-CN" altLang="en-US" sz="2200" b="1" dirty="0">
                <a:latin typeface="宋体" charset="-122"/>
              </a:rPr>
              <a:t>该步骤可缺省</a:t>
            </a:r>
            <a:r>
              <a:rPr lang="en-US" altLang="zh-CN" sz="2200" b="1" dirty="0">
                <a:latin typeface="宋体" charset="-122"/>
              </a:rPr>
              <a:t>]</a:t>
            </a:r>
            <a:endParaRPr lang="en-US" altLang="zh-CN" sz="2200" b="1" dirty="0">
              <a:solidFill>
                <a:srgbClr val="CC3300"/>
              </a:solidFill>
              <a:latin typeface="宋体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en-US" altLang="zh-CN" sz="2200" b="1" dirty="0">
                <a:latin typeface="宋体" charset="-122"/>
              </a:rPr>
              <a:t>   *</a:t>
            </a:r>
            <a:r>
              <a:rPr lang="zh-CN" altLang="en-US" sz="2200" b="1" dirty="0">
                <a:latin typeface="宋体" charset="-122"/>
              </a:rPr>
              <a:t>从菜单</a:t>
            </a:r>
            <a:r>
              <a:rPr lang="en-US" altLang="zh-CN" sz="2200" b="1" dirty="0" err="1">
                <a:latin typeface="宋体" charset="-122"/>
              </a:rPr>
              <a:t>Assignments→Device</a:t>
            </a:r>
            <a:r>
              <a:rPr lang="zh-CN" altLang="en-US" sz="2200" b="1" dirty="0">
                <a:latin typeface="宋体" charset="-122"/>
              </a:rPr>
              <a:t>进入，可重新选择器件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200" b="1" dirty="0">
                <a:latin typeface="宋体" charset="-122"/>
              </a:rPr>
              <a:t>   *单击</a:t>
            </a:r>
            <a:r>
              <a:rPr lang="en-US" altLang="en-US" sz="2200" b="1" dirty="0">
                <a:latin typeface="宋体" charset="-122"/>
              </a:rPr>
              <a:t>Device &amp; Pin Options…</a:t>
            </a:r>
            <a:r>
              <a:rPr lang="zh-CN" altLang="en-US" sz="2200" b="1" dirty="0">
                <a:latin typeface="宋体" charset="-122"/>
              </a:rPr>
              <a:t>，可配置</a:t>
            </a:r>
            <a:r>
              <a:rPr lang="en-US" altLang="zh-CN" sz="2200" b="1" dirty="0">
                <a:latin typeface="宋体" charset="-122"/>
              </a:rPr>
              <a:t>Unused Pins</a:t>
            </a:r>
            <a:r>
              <a:rPr lang="zh-CN" altLang="en-US" sz="2200" b="1" dirty="0">
                <a:latin typeface="宋体" charset="-122"/>
              </a:rPr>
              <a:t>状态等</a:t>
            </a: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179388" y="2855912"/>
            <a:ext cx="8713787" cy="88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200" b="1" dirty="0">
                <a:solidFill>
                  <a:srgbClr val="CC3300"/>
                </a:solidFill>
                <a:latin typeface="宋体" charset="-122"/>
              </a:rPr>
              <a:t>⑵</a:t>
            </a:r>
            <a:r>
              <a:rPr lang="zh-CN" altLang="en-US" sz="2200" b="1" dirty="0">
                <a:solidFill>
                  <a:srgbClr val="CC3300"/>
                </a:solidFill>
                <a:latin typeface="宋体" charset="-122"/>
              </a:rPr>
              <a:t>引脚分配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200" b="1" dirty="0">
                <a:latin typeface="宋体" charset="-122"/>
              </a:rPr>
              <a:t>   *从菜单</a:t>
            </a:r>
            <a:r>
              <a:rPr lang="en-US" altLang="zh-CN" sz="2200" b="1" dirty="0" err="1">
                <a:latin typeface="宋体" charset="-122"/>
              </a:rPr>
              <a:t>Assignments→Device</a:t>
            </a:r>
            <a:r>
              <a:rPr lang="zh-CN" altLang="en-US" sz="2200" b="1" dirty="0">
                <a:latin typeface="宋体" charset="-122"/>
              </a:rPr>
              <a:t>进入，进入</a:t>
            </a:r>
            <a:r>
              <a:rPr lang="en-US" altLang="zh-CN" sz="2200" b="1" dirty="0">
                <a:latin typeface="宋体" charset="-122"/>
              </a:rPr>
              <a:t>Pin Planner</a:t>
            </a:r>
          </a:p>
        </p:txBody>
      </p:sp>
      <p:pic>
        <p:nvPicPr>
          <p:cNvPr id="2355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3770312"/>
            <a:ext cx="7104062" cy="216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6FB165C4-E9EB-413D-83FD-79194ED1BA29}" type="slidenum">
              <a:rPr lang="en-US" altLang="zh-CN" smtClean="0">
                <a:latin typeface="Arial Black" pitchFamily="34" charset="0"/>
              </a:rPr>
              <a:pPr eaLnBrk="1" hangingPunct="1"/>
              <a:t>22</a:t>
            </a:fld>
            <a:endParaRPr lang="en-US" altLang="zh-CN">
              <a:latin typeface="Arial Black" pitchFamily="34" charset="0"/>
            </a:endParaRPr>
          </a:p>
        </p:txBody>
      </p:sp>
      <p:sp>
        <p:nvSpPr>
          <p:cNvPr id="24579" name="Text Box 2"/>
          <p:cNvSpPr txBox="1">
            <a:spLocks noChangeArrowheads="1"/>
          </p:cNvSpPr>
          <p:nvPr/>
        </p:nvSpPr>
        <p:spPr bwMode="auto">
          <a:xfrm>
            <a:off x="179388" y="573088"/>
            <a:ext cx="8713787" cy="88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200" b="1" dirty="0">
                <a:latin typeface="宋体" charset="-122"/>
              </a:rPr>
              <a:t>   *</a:t>
            </a:r>
            <a:r>
              <a:rPr lang="zh-CN" altLang="en-US" sz="2200" b="1" dirty="0">
                <a:latin typeface="宋体" charset="-122"/>
              </a:rPr>
              <a:t>在</a:t>
            </a:r>
            <a:r>
              <a:rPr lang="en-US" altLang="zh-CN" sz="2200" b="1" dirty="0">
                <a:latin typeface="宋体" charset="-122"/>
              </a:rPr>
              <a:t>Pin Planner</a:t>
            </a:r>
            <a:r>
              <a:rPr lang="zh-CN" altLang="en-US" sz="2200" b="1" dirty="0">
                <a:latin typeface="宋体" charset="-122"/>
              </a:rPr>
              <a:t>中，针对原理图中所有管脚</a:t>
            </a:r>
            <a:r>
              <a:rPr lang="en-US" altLang="zh-CN" sz="2200" b="1" dirty="0">
                <a:latin typeface="宋体" charset="-122"/>
              </a:rPr>
              <a:t>[</a:t>
            </a:r>
            <a:r>
              <a:rPr lang="zh-CN" altLang="en-US" sz="2200" b="1" dirty="0">
                <a:latin typeface="宋体" charset="-122"/>
              </a:rPr>
              <a:t>即</a:t>
            </a:r>
            <a:r>
              <a:rPr lang="en-US" altLang="zh-CN" sz="2200" b="1" dirty="0">
                <a:latin typeface="宋体" charset="-122"/>
              </a:rPr>
              <a:t>Node Name]</a:t>
            </a:r>
            <a:r>
              <a:rPr lang="zh-CN" altLang="en-US" sz="2200" b="1" dirty="0">
                <a:latin typeface="宋体" charset="-122"/>
              </a:rPr>
              <a:t>，依次双击对应的</a:t>
            </a:r>
            <a:r>
              <a:rPr lang="en-US" altLang="zh-CN" sz="2200" b="1" dirty="0">
                <a:latin typeface="宋体" charset="-122"/>
              </a:rPr>
              <a:t>Location</a:t>
            </a:r>
            <a:r>
              <a:rPr lang="zh-CN" altLang="en-US" sz="2200" b="1" dirty="0">
                <a:latin typeface="宋体" charset="-122"/>
              </a:rPr>
              <a:t>栏，在出现的下拉列表中选择合适的器件引脚</a:t>
            </a:r>
          </a:p>
        </p:txBody>
      </p:sp>
      <p:pic>
        <p:nvPicPr>
          <p:cNvPr id="2458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524000"/>
            <a:ext cx="7777163" cy="266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1" name="Text Box 4"/>
          <p:cNvSpPr txBox="1">
            <a:spLocks noChangeArrowheads="1"/>
          </p:cNvSpPr>
          <p:nvPr/>
        </p:nvSpPr>
        <p:spPr bwMode="auto">
          <a:xfrm>
            <a:off x="179388" y="4267200"/>
            <a:ext cx="8713787" cy="457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200" b="1" dirty="0">
                <a:latin typeface="宋体" charset="-122"/>
              </a:rPr>
              <a:t>   *</a:t>
            </a:r>
            <a:r>
              <a:rPr lang="zh-CN" altLang="en-US" sz="2200" b="1" dirty="0">
                <a:latin typeface="宋体" charset="-122"/>
              </a:rPr>
              <a:t>保存引脚锁定信息至文件，可使用工具条、或从菜单进入</a:t>
            </a:r>
          </a:p>
        </p:txBody>
      </p:sp>
      <p:sp>
        <p:nvSpPr>
          <p:cNvPr id="33797" name="Text Box 5"/>
          <p:cNvSpPr txBox="1">
            <a:spLocks noChangeArrowheads="1"/>
          </p:cNvSpPr>
          <p:nvPr/>
        </p:nvSpPr>
        <p:spPr bwMode="auto">
          <a:xfrm>
            <a:off x="179388" y="4797425"/>
            <a:ext cx="8713787" cy="88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2200" b="1" dirty="0">
                <a:latin typeface="宋体" pitchFamily="2" charset="-122"/>
                <a:ea typeface="宋体" pitchFamily="2" charset="-122"/>
              </a:rPr>
              <a:t>   *</a:t>
            </a:r>
            <a:r>
              <a:rPr lang="zh-CN" altLang="en-US" sz="2200" b="1" dirty="0"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  <a:ea typeface="宋体" pitchFamily="2" charset="-122"/>
              </a:rPr>
              <a:t>再编译一次</a:t>
            </a:r>
            <a:r>
              <a:rPr lang="zh-CN" altLang="en-US" sz="2200" b="1" dirty="0">
                <a:latin typeface="宋体" pitchFamily="2" charset="-122"/>
                <a:ea typeface="宋体" pitchFamily="2" charset="-122"/>
              </a:rPr>
              <a:t>，</a:t>
            </a:r>
            <a:r>
              <a:rPr lang="zh-CN" altLang="en-US" sz="2200" b="1" dirty="0">
                <a:ea typeface="宋体" pitchFamily="2" charset="-122"/>
              </a:rPr>
              <a:t>把引脚分配信息编译到下载文件中</a:t>
            </a:r>
          </a:p>
          <a:p>
            <a:pPr>
              <a:lnSpc>
                <a:spcPct val="125000"/>
              </a:lnSpc>
              <a:defRPr/>
            </a:pPr>
            <a:r>
              <a:rPr lang="zh-CN" altLang="en-US" sz="2200" b="1" dirty="0">
                <a:latin typeface="宋体" pitchFamily="2" charset="-122"/>
                <a:ea typeface="宋体" pitchFamily="2" charset="-122"/>
              </a:rPr>
              <a:t>                                    </a:t>
            </a:r>
            <a:r>
              <a:rPr lang="en-US" altLang="zh-CN" sz="2200" b="1" dirty="0">
                <a:latin typeface="宋体" pitchFamily="2" charset="-122"/>
                <a:ea typeface="宋体" pitchFamily="2" charset="-122"/>
              </a:rPr>
              <a:t>(.</a:t>
            </a:r>
            <a:r>
              <a:rPr lang="en-US" altLang="zh-CN" sz="2200" b="1" dirty="0" err="1">
                <a:latin typeface="宋体" pitchFamily="2" charset="-122"/>
                <a:ea typeface="宋体" pitchFamily="2" charset="-122"/>
              </a:rPr>
              <a:t>sof</a:t>
            </a:r>
            <a:r>
              <a:rPr lang="zh-CN" altLang="en-US" sz="2200" b="1" dirty="0">
                <a:latin typeface="宋体" pitchFamily="2" charset="-122"/>
                <a:ea typeface="宋体" pitchFamily="2" charset="-122"/>
              </a:rPr>
              <a:t>或</a:t>
            </a:r>
            <a:r>
              <a:rPr lang="en-US" altLang="zh-CN" sz="2200" b="1" dirty="0">
                <a:latin typeface="宋体" pitchFamily="2" charset="-122"/>
                <a:ea typeface="宋体" pitchFamily="2" charset="-122"/>
              </a:rPr>
              <a:t>.</a:t>
            </a:r>
            <a:r>
              <a:rPr lang="en-US" altLang="zh-CN" sz="2200" b="1" dirty="0" err="1">
                <a:latin typeface="宋体" pitchFamily="2" charset="-122"/>
                <a:ea typeface="宋体" pitchFamily="2" charset="-122"/>
              </a:rPr>
              <a:t>pof</a:t>
            </a:r>
            <a:r>
              <a:rPr lang="en-US" altLang="zh-CN" sz="2200" b="1" dirty="0">
                <a:latin typeface="宋体" pitchFamily="2" charset="-122"/>
                <a:ea typeface="宋体" pitchFamily="2" charset="-122"/>
              </a:rPr>
              <a:t>)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491832A2-FEFF-4AC9-9165-6829567847F9}" type="slidenum">
              <a:rPr lang="en-US" altLang="zh-CN" smtClean="0">
                <a:latin typeface="Arial Black" pitchFamily="34" charset="0"/>
              </a:rPr>
              <a:pPr eaLnBrk="1" hangingPunct="1"/>
              <a:t>23</a:t>
            </a:fld>
            <a:endParaRPr lang="en-US" altLang="zh-CN">
              <a:latin typeface="Arial Black" pitchFamily="34" charset="0"/>
            </a:endParaRPr>
          </a:p>
        </p:txBody>
      </p:sp>
      <p:sp>
        <p:nvSpPr>
          <p:cNvPr id="25603" name="Text Box 2"/>
          <p:cNvSpPr txBox="1">
            <a:spLocks noChangeArrowheads="1"/>
          </p:cNvSpPr>
          <p:nvPr/>
        </p:nvSpPr>
        <p:spPr bwMode="auto">
          <a:xfrm>
            <a:off x="179388" y="620713"/>
            <a:ext cx="8785225" cy="88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charset="-122"/>
              </a:rPr>
              <a:t>2</a:t>
            </a:r>
            <a:r>
              <a:rPr lang="zh-CN" altLang="en-US" sz="2200" b="1" dirty="0">
                <a:solidFill>
                  <a:srgbClr val="FF3399"/>
                </a:solidFill>
                <a:latin typeface="宋体" charset="-122"/>
              </a:rPr>
              <a:t>、下载电路文件</a:t>
            </a:r>
            <a:r>
              <a:rPr lang="zh-CN" altLang="en-US" sz="2200" b="1" dirty="0">
                <a:latin typeface="宋体" charset="-122"/>
              </a:rPr>
              <a:t>     </a:t>
            </a:r>
            <a:r>
              <a:rPr lang="en-US" altLang="zh-CN" sz="2200" b="1" dirty="0">
                <a:latin typeface="宋体" charset="-122"/>
              </a:rPr>
              <a:t>--</a:t>
            </a:r>
            <a:r>
              <a:rPr lang="zh-CN" altLang="en-US" sz="2200" b="1" dirty="0">
                <a:latin typeface="宋体" charset="-122"/>
              </a:rPr>
              <a:t>只介绍</a:t>
            </a:r>
            <a:r>
              <a:rPr lang="en-US" altLang="zh-CN" sz="2200" b="1" dirty="0">
                <a:latin typeface="宋体" charset="-122"/>
              </a:rPr>
              <a:t>JTAG</a:t>
            </a:r>
            <a:r>
              <a:rPr lang="zh-CN" altLang="en-US" sz="2200" b="1" dirty="0">
                <a:latin typeface="宋体" charset="-122"/>
              </a:rPr>
              <a:t>编程模式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200" b="1" dirty="0">
                <a:latin typeface="宋体" charset="-122"/>
              </a:rPr>
              <a:t>   </a:t>
            </a:r>
            <a:r>
              <a:rPr lang="en-US" altLang="zh-CN" sz="2200" b="1" dirty="0">
                <a:latin typeface="宋体" charset="-122"/>
              </a:rPr>
              <a:t>JTAG</a:t>
            </a:r>
            <a:r>
              <a:rPr lang="zh-CN" altLang="en-US" sz="2200" b="1" dirty="0">
                <a:latin typeface="宋体" charset="-122"/>
              </a:rPr>
              <a:t>模式可用编译好的</a:t>
            </a:r>
            <a:r>
              <a:rPr lang="en-US" altLang="zh-CN" sz="2200" b="1" dirty="0">
                <a:latin typeface="宋体" charset="-122"/>
              </a:rPr>
              <a:t>SOF</a:t>
            </a:r>
            <a:r>
              <a:rPr lang="zh-CN" altLang="en-US" sz="2200" b="1" dirty="0">
                <a:latin typeface="宋体" charset="-122"/>
              </a:rPr>
              <a:t>文件直接对</a:t>
            </a:r>
            <a:r>
              <a:rPr lang="en-US" altLang="zh-CN" sz="2200" b="1" dirty="0">
                <a:latin typeface="宋体" charset="-122"/>
              </a:rPr>
              <a:t>FPGA</a:t>
            </a:r>
            <a:r>
              <a:rPr lang="zh-CN" altLang="en-US" sz="2200" b="1" dirty="0">
                <a:latin typeface="宋体" charset="-122"/>
              </a:rPr>
              <a:t>器件进行配置</a:t>
            </a:r>
          </a:p>
        </p:txBody>
      </p:sp>
      <p:sp>
        <p:nvSpPr>
          <p:cNvPr id="25604" name="Text Box 3"/>
          <p:cNvSpPr txBox="1">
            <a:spLocks noChangeArrowheads="1"/>
          </p:cNvSpPr>
          <p:nvPr/>
        </p:nvSpPr>
        <p:spPr bwMode="auto">
          <a:xfrm>
            <a:off x="179388" y="1524000"/>
            <a:ext cx="8713787" cy="1303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200" b="1" dirty="0">
                <a:solidFill>
                  <a:srgbClr val="CC3300"/>
                </a:solidFill>
                <a:latin typeface="宋体" charset="-122"/>
              </a:rPr>
              <a:t>⑴</a:t>
            </a:r>
            <a:r>
              <a:rPr lang="zh-CN" altLang="en-US" sz="2200" b="1" dirty="0">
                <a:solidFill>
                  <a:srgbClr val="CC3300"/>
                </a:solidFill>
                <a:latin typeface="宋体" charset="-122"/>
              </a:rPr>
              <a:t>连接硬件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200" b="1" dirty="0">
                <a:latin typeface="宋体" charset="-122"/>
              </a:rPr>
              <a:t>   *</a:t>
            </a:r>
            <a:r>
              <a:rPr lang="zh-CN" altLang="en-US" sz="2200" b="1" dirty="0">
                <a:solidFill>
                  <a:srgbClr val="0000FF"/>
                </a:solidFill>
                <a:latin typeface="宋体" charset="-122"/>
              </a:rPr>
              <a:t>断开实验箱电源</a:t>
            </a:r>
            <a:r>
              <a:rPr lang="zh-CN" altLang="en-US" sz="2200" b="1" dirty="0">
                <a:latin typeface="宋体" charset="-122"/>
              </a:rPr>
              <a:t>，用</a:t>
            </a:r>
            <a:r>
              <a:rPr lang="en-US" altLang="zh-CN" sz="2200" b="1" dirty="0" err="1">
                <a:latin typeface="宋体" charset="-122"/>
              </a:rPr>
              <a:t>ByteBlasterMV</a:t>
            </a:r>
            <a:r>
              <a:rPr lang="zh-CN" altLang="en-US" sz="2200" b="1" dirty="0">
                <a:latin typeface="宋体" charset="-122"/>
              </a:rPr>
              <a:t>或</a:t>
            </a:r>
            <a:r>
              <a:rPr lang="en-US" altLang="zh-CN" sz="2200" b="1" dirty="0" err="1">
                <a:latin typeface="宋体" charset="-122"/>
              </a:rPr>
              <a:t>ByteBlaster</a:t>
            </a:r>
            <a:r>
              <a:rPr lang="en-US" altLang="en-US" sz="2200" b="1" dirty="0" err="1">
                <a:latin typeface="宋体" charset="-122"/>
              </a:rPr>
              <a:t>Ⅱ</a:t>
            </a:r>
            <a:r>
              <a:rPr lang="zh-CN" altLang="en-US" sz="2200" b="1" dirty="0">
                <a:latin typeface="宋体" charset="-122"/>
              </a:rPr>
              <a:t>下载电缆连接好计算机并口与实验箱的开发板，然后</a:t>
            </a:r>
            <a:r>
              <a:rPr lang="zh-CN" altLang="en-US" sz="2200" b="1" dirty="0">
                <a:solidFill>
                  <a:srgbClr val="0000FF"/>
                </a:solidFill>
                <a:latin typeface="宋体" charset="-122"/>
              </a:rPr>
              <a:t>打开电源</a:t>
            </a:r>
          </a:p>
        </p:txBody>
      </p:sp>
      <p:sp>
        <p:nvSpPr>
          <p:cNvPr id="25605" name="Text Box 4"/>
          <p:cNvSpPr txBox="1">
            <a:spLocks noChangeArrowheads="1"/>
          </p:cNvSpPr>
          <p:nvPr/>
        </p:nvSpPr>
        <p:spPr bwMode="auto">
          <a:xfrm>
            <a:off x="179388" y="2819400"/>
            <a:ext cx="8713787" cy="88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200" b="1" dirty="0">
                <a:solidFill>
                  <a:srgbClr val="CC3300"/>
                </a:solidFill>
                <a:latin typeface="宋体" charset="-122"/>
              </a:rPr>
              <a:t>⑵</a:t>
            </a:r>
            <a:r>
              <a:rPr lang="zh-CN" altLang="en-US" sz="2200" b="1" dirty="0">
                <a:solidFill>
                  <a:srgbClr val="CC3300"/>
                </a:solidFill>
                <a:latin typeface="宋体" charset="-122"/>
              </a:rPr>
              <a:t>设置编程器           </a:t>
            </a:r>
            <a:r>
              <a:rPr lang="en-US" altLang="zh-CN" sz="2200" b="1" dirty="0">
                <a:latin typeface="宋体" charset="-122"/>
              </a:rPr>
              <a:t>--</a:t>
            </a:r>
            <a:r>
              <a:rPr lang="zh-CN" altLang="en-US" sz="2200" b="1" dirty="0">
                <a:latin typeface="宋体" charset="-122"/>
              </a:rPr>
              <a:t>初次安装或改变下载电缆时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200" b="1" dirty="0">
                <a:latin typeface="宋体" charset="-122"/>
              </a:rPr>
              <a:t>   *选择菜单</a:t>
            </a:r>
            <a:r>
              <a:rPr lang="en-US" altLang="zh-CN" sz="2200" b="1" dirty="0" err="1">
                <a:latin typeface="宋体" charset="-122"/>
              </a:rPr>
              <a:t>Tools→Programer</a:t>
            </a:r>
            <a:r>
              <a:rPr lang="zh-CN" altLang="en-US" sz="2200" b="1" dirty="0">
                <a:latin typeface="宋体" charset="-122"/>
              </a:rPr>
              <a:t>，进入编程窗口</a:t>
            </a:r>
          </a:p>
        </p:txBody>
      </p:sp>
      <p:sp>
        <p:nvSpPr>
          <p:cNvPr id="25606" name="Text Box 5"/>
          <p:cNvSpPr txBox="1">
            <a:spLocks noChangeArrowheads="1"/>
          </p:cNvSpPr>
          <p:nvPr/>
        </p:nvSpPr>
        <p:spPr bwMode="auto">
          <a:xfrm>
            <a:off x="179388" y="5715000"/>
            <a:ext cx="8713787" cy="457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200" b="1" dirty="0">
                <a:latin typeface="宋体" charset="-122"/>
              </a:rPr>
              <a:t>   *</a:t>
            </a:r>
            <a:r>
              <a:rPr lang="zh-CN" altLang="en-US" sz="2200" b="1" dirty="0">
                <a:latin typeface="宋体" charset="-122"/>
              </a:rPr>
              <a:t>单击</a:t>
            </a:r>
            <a:r>
              <a:rPr lang="en-US" altLang="zh-CN" sz="2200" b="1" dirty="0">
                <a:latin typeface="宋体" charset="-122"/>
              </a:rPr>
              <a:t>Hardware Setup</a:t>
            </a:r>
            <a:r>
              <a:rPr lang="zh-CN" altLang="en-US" sz="2200" b="1" dirty="0">
                <a:latin typeface="宋体" charset="-122"/>
              </a:rPr>
              <a:t>，弹出</a:t>
            </a:r>
            <a:r>
              <a:rPr lang="en-US" altLang="zh-CN" sz="2200" b="1" dirty="0">
                <a:latin typeface="宋体" charset="-122"/>
              </a:rPr>
              <a:t>Hardware Setup</a:t>
            </a:r>
            <a:r>
              <a:rPr lang="zh-CN" altLang="en-US" sz="2200" b="1" dirty="0">
                <a:latin typeface="宋体" charset="-122"/>
              </a:rPr>
              <a:t>对话框</a:t>
            </a:r>
          </a:p>
        </p:txBody>
      </p:sp>
      <p:pic>
        <p:nvPicPr>
          <p:cNvPr id="2560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3733800"/>
            <a:ext cx="6553200" cy="199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E7DB3FF7-F800-48E1-82DA-B5B453B88E11}" type="slidenum">
              <a:rPr lang="en-US" altLang="zh-CN" smtClean="0">
                <a:latin typeface="Arial Black" pitchFamily="34" charset="0"/>
              </a:rPr>
              <a:pPr eaLnBrk="1" hangingPunct="1"/>
              <a:t>24</a:t>
            </a:fld>
            <a:endParaRPr lang="en-US" altLang="zh-CN">
              <a:latin typeface="Arial Black" pitchFamily="34" charset="0"/>
            </a:endParaRPr>
          </a:p>
        </p:txBody>
      </p:sp>
      <p:pic>
        <p:nvPicPr>
          <p:cNvPr id="2662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476375"/>
            <a:ext cx="3384550" cy="280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8" name="Text Box 3"/>
          <p:cNvSpPr txBox="1">
            <a:spLocks noChangeArrowheads="1"/>
          </p:cNvSpPr>
          <p:nvPr/>
        </p:nvSpPr>
        <p:spPr bwMode="auto">
          <a:xfrm>
            <a:off x="179388" y="596900"/>
            <a:ext cx="8713787" cy="88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200" b="1" dirty="0">
                <a:latin typeface="宋体" charset="-122"/>
              </a:rPr>
              <a:t>   *</a:t>
            </a:r>
            <a:r>
              <a:rPr lang="zh-CN" altLang="en-US" sz="2200" b="1" dirty="0">
                <a:latin typeface="宋体" charset="-122"/>
              </a:rPr>
              <a:t>单击</a:t>
            </a:r>
            <a:r>
              <a:rPr lang="en-US" altLang="zh-CN" sz="2200" b="1" dirty="0">
                <a:latin typeface="宋体" charset="-122"/>
              </a:rPr>
              <a:t>Add Hardware</a:t>
            </a:r>
            <a:r>
              <a:rPr lang="zh-CN" altLang="en-US" sz="2200" b="1" dirty="0">
                <a:latin typeface="宋体" charset="-122"/>
              </a:rPr>
              <a:t>，在所弹出对话框的</a:t>
            </a:r>
            <a:r>
              <a:rPr lang="en-US" altLang="zh-CN" sz="2200" b="1" dirty="0">
                <a:latin typeface="宋体" charset="-122"/>
              </a:rPr>
              <a:t>Hardware type</a:t>
            </a:r>
            <a:r>
              <a:rPr lang="zh-CN" altLang="en-US" sz="2200" b="1" dirty="0">
                <a:latin typeface="宋体" charset="-122"/>
              </a:rPr>
              <a:t>中选择</a:t>
            </a:r>
            <a:r>
              <a:rPr lang="en-US" altLang="zh-CN" sz="2200" b="1" dirty="0" err="1">
                <a:latin typeface="宋体" charset="-122"/>
              </a:rPr>
              <a:t>ByteBlasterMV</a:t>
            </a:r>
            <a:r>
              <a:rPr lang="en-US" altLang="zh-CN" sz="2200" b="1" dirty="0">
                <a:latin typeface="宋体" charset="-122"/>
              </a:rPr>
              <a:t> or </a:t>
            </a:r>
            <a:r>
              <a:rPr lang="en-US" altLang="zh-CN" sz="2200" b="1" dirty="0" err="1">
                <a:latin typeface="宋体" charset="-122"/>
              </a:rPr>
              <a:t>ByteBlaster</a:t>
            </a:r>
            <a:r>
              <a:rPr lang="en-US" altLang="en-US" sz="2200" b="1" dirty="0" err="1">
                <a:latin typeface="宋体" charset="-122"/>
              </a:rPr>
              <a:t>Ⅱ</a:t>
            </a:r>
            <a:endParaRPr lang="en-US" altLang="zh-CN" sz="2200" b="1" dirty="0">
              <a:latin typeface="宋体" charset="-122"/>
            </a:endParaRPr>
          </a:p>
        </p:txBody>
      </p:sp>
      <p:sp>
        <p:nvSpPr>
          <p:cNvPr id="26629" name="Text Box 4"/>
          <p:cNvSpPr txBox="1">
            <a:spLocks noChangeArrowheads="1"/>
          </p:cNvSpPr>
          <p:nvPr/>
        </p:nvSpPr>
        <p:spPr bwMode="auto">
          <a:xfrm>
            <a:off x="179388" y="4343231"/>
            <a:ext cx="8713787" cy="457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200" b="1" dirty="0">
                <a:latin typeface="宋体" charset="-122"/>
              </a:rPr>
              <a:t>   *</a:t>
            </a:r>
            <a:r>
              <a:rPr lang="zh-CN" altLang="en-US" sz="2200" b="1" dirty="0">
                <a:latin typeface="宋体" charset="-122"/>
              </a:rPr>
              <a:t>回到编程窗口后，其第一行将显示相应的硬件类型信息</a:t>
            </a:r>
          </a:p>
        </p:txBody>
      </p:sp>
      <p:pic>
        <p:nvPicPr>
          <p:cNvPr id="26630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350" y="1447800"/>
            <a:ext cx="3305175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1" name="Picture 1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4800600"/>
            <a:ext cx="696277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4BF765A4-1CE6-489C-B316-212F67099726}" type="slidenum">
              <a:rPr lang="en-US" altLang="zh-CN" smtClean="0">
                <a:latin typeface="Arial Black" pitchFamily="34" charset="0"/>
              </a:rPr>
              <a:pPr eaLnBrk="1" hangingPunct="1"/>
              <a:t>25</a:t>
            </a:fld>
            <a:endParaRPr lang="en-US" altLang="zh-CN">
              <a:latin typeface="Arial Black" pitchFamily="34" charset="0"/>
            </a:endParaRPr>
          </a:p>
        </p:txBody>
      </p:sp>
      <p:sp>
        <p:nvSpPr>
          <p:cNvPr id="27651" name="Text Box 2"/>
          <p:cNvSpPr txBox="1">
            <a:spLocks noChangeArrowheads="1"/>
          </p:cNvSpPr>
          <p:nvPr/>
        </p:nvSpPr>
        <p:spPr bwMode="auto">
          <a:xfrm>
            <a:off x="179388" y="549275"/>
            <a:ext cx="8713787" cy="1726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200" b="1" dirty="0">
                <a:solidFill>
                  <a:srgbClr val="CC3300"/>
                </a:solidFill>
                <a:latin typeface="宋体" charset="-122"/>
              </a:rPr>
              <a:t>⑶</a:t>
            </a:r>
            <a:r>
              <a:rPr lang="zh-CN" altLang="en-US" sz="2200" b="1" dirty="0">
                <a:solidFill>
                  <a:srgbClr val="CC3300"/>
                </a:solidFill>
                <a:latin typeface="宋体" charset="-122"/>
              </a:rPr>
              <a:t>选择编程模式及配置文件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200" b="1" dirty="0">
                <a:latin typeface="宋体" charset="-122"/>
              </a:rPr>
              <a:t>   *在编程窗口</a:t>
            </a:r>
            <a:r>
              <a:rPr lang="en-US" altLang="zh-CN" sz="2200" b="1" dirty="0">
                <a:latin typeface="宋体" charset="-122"/>
              </a:rPr>
              <a:t>Mode</a:t>
            </a:r>
            <a:r>
              <a:rPr lang="zh-CN" altLang="en-US" sz="2200" b="1" dirty="0">
                <a:latin typeface="宋体" charset="-122"/>
              </a:rPr>
              <a:t>栏中，选择</a:t>
            </a:r>
            <a:r>
              <a:rPr lang="en-US" altLang="zh-CN" sz="2200" b="1" dirty="0">
                <a:latin typeface="宋体" charset="-122"/>
              </a:rPr>
              <a:t>JTAG</a:t>
            </a:r>
            <a:r>
              <a:rPr lang="zh-CN" altLang="en-US" sz="2200" b="1" dirty="0">
                <a:latin typeface="宋体" charset="-122"/>
              </a:rPr>
              <a:t>模式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200" dirty="0">
                <a:latin typeface="宋体" charset="-122"/>
              </a:rPr>
              <a:t>   </a:t>
            </a:r>
            <a:r>
              <a:rPr lang="zh-CN" altLang="en-US" sz="2200" b="1" dirty="0">
                <a:latin typeface="宋体" charset="-122"/>
              </a:rPr>
              <a:t>*核对下载文件路径及文件名，可用</a:t>
            </a:r>
            <a:r>
              <a:rPr lang="en-US" altLang="zh-CN" sz="2200" b="1" dirty="0">
                <a:latin typeface="宋体" charset="-122"/>
              </a:rPr>
              <a:t>Add File</a:t>
            </a:r>
            <a:r>
              <a:rPr lang="zh-CN" altLang="en-US" sz="2200" b="1" dirty="0">
                <a:latin typeface="宋体" charset="-122"/>
              </a:rPr>
              <a:t>手工选择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200" b="1" dirty="0">
                <a:latin typeface="宋体" charset="-122"/>
              </a:rPr>
              <a:t>   *选中下载文件的</a:t>
            </a:r>
            <a:r>
              <a:rPr lang="en-US" altLang="zh-CN" sz="2200" b="1" dirty="0">
                <a:latin typeface="宋体" charset="-122"/>
              </a:rPr>
              <a:t>Program/Configure</a:t>
            </a:r>
            <a:r>
              <a:rPr lang="zh-CN" altLang="en-US" sz="2200" b="1" dirty="0">
                <a:latin typeface="宋体" charset="-122"/>
              </a:rPr>
              <a:t>复选框</a:t>
            </a:r>
          </a:p>
        </p:txBody>
      </p:sp>
      <p:pic>
        <p:nvPicPr>
          <p:cNvPr id="2765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286000"/>
            <a:ext cx="7281863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CFDD6614-5530-440C-952B-30B336FBA87F}" type="slidenum">
              <a:rPr lang="en-US" altLang="zh-CN" smtClean="0">
                <a:latin typeface="Arial Black" pitchFamily="34" charset="0"/>
              </a:rPr>
              <a:pPr eaLnBrk="1" hangingPunct="1"/>
              <a:t>26</a:t>
            </a:fld>
            <a:endParaRPr lang="en-US" altLang="zh-CN">
              <a:latin typeface="Arial Black" pitchFamily="34" charset="0"/>
            </a:endParaRPr>
          </a:p>
        </p:txBody>
      </p:sp>
      <p:sp>
        <p:nvSpPr>
          <p:cNvPr id="28675" name="Text Box 2"/>
          <p:cNvSpPr txBox="1">
            <a:spLocks noChangeArrowheads="1"/>
          </p:cNvSpPr>
          <p:nvPr/>
        </p:nvSpPr>
        <p:spPr bwMode="auto">
          <a:xfrm>
            <a:off x="179388" y="549275"/>
            <a:ext cx="8713787" cy="88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200" b="1" dirty="0">
                <a:solidFill>
                  <a:srgbClr val="CC3300"/>
                </a:solidFill>
                <a:latin typeface="宋体" charset="-122"/>
              </a:rPr>
              <a:t>⑷</a:t>
            </a:r>
            <a:r>
              <a:rPr lang="zh-CN" altLang="en-US" sz="2200" b="1" dirty="0">
                <a:solidFill>
                  <a:srgbClr val="CC3300"/>
                </a:solidFill>
                <a:latin typeface="宋体" charset="-122"/>
              </a:rPr>
              <a:t>配置下载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200" b="1" dirty="0">
                <a:latin typeface="宋体" charset="-122"/>
              </a:rPr>
              <a:t>   *在编程窗口中，单击</a:t>
            </a:r>
            <a:r>
              <a:rPr lang="en-US" altLang="zh-CN" sz="2200" b="1" dirty="0">
                <a:latin typeface="宋体" charset="-122"/>
              </a:rPr>
              <a:t>Start</a:t>
            </a:r>
            <a:r>
              <a:rPr lang="zh-CN" altLang="en-US" sz="2200" b="1" dirty="0">
                <a:latin typeface="宋体" charset="-122"/>
              </a:rPr>
              <a:t>，对目标</a:t>
            </a:r>
            <a:r>
              <a:rPr lang="en-US" altLang="zh-CN" sz="2200" b="1" dirty="0">
                <a:latin typeface="宋体" charset="-122"/>
              </a:rPr>
              <a:t>FPGA</a:t>
            </a:r>
            <a:r>
              <a:rPr lang="zh-CN" altLang="en-US" sz="2200" b="1" dirty="0">
                <a:latin typeface="宋体" charset="-122"/>
              </a:rPr>
              <a:t>器件配置下载</a:t>
            </a:r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179388" y="4343400"/>
            <a:ext cx="8713787" cy="457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200" b="1" dirty="0">
                <a:latin typeface="宋体" charset="-122"/>
              </a:rPr>
              <a:t>   *</a:t>
            </a:r>
            <a:r>
              <a:rPr lang="zh-CN" altLang="en-US" sz="2200" b="1" dirty="0">
                <a:latin typeface="宋体" charset="-122"/>
              </a:rPr>
              <a:t>下载失败时，根据提示的错误信息，作相应处理</a:t>
            </a:r>
          </a:p>
        </p:txBody>
      </p:sp>
      <p:sp>
        <p:nvSpPr>
          <p:cNvPr id="28677" name="Text Box 5"/>
          <p:cNvSpPr txBox="1">
            <a:spLocks noChangeArrowheads="1"/>
          </p:cNvSpPr>
          <p:nvPr/>
        </p:nvSpPr>
        <p:spPr bwMode="auto">
          <a:xfrm>
            <a:off x="179388" y="4821237"/>
            <a:ext cx="8713787" cy="457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200" b="1" dirty="0">
                <a:latin typeface="宋体" charset="-122"/>
              </a:rPr>
              <a:t>   *</a:t>
            </a:r>
            <a:r>
              <a:rPr lang="zh-CN" altLang="en-US" sz="2200" b="1" dirty="0">
                <a:latin typeface="宋体" charset="-122"/>
              </a:rPr>
              <a:t>下载成功后，即可进行所设计电路的硬件调试、测试</a:t>
            </a:r>
          </a:p>
        </p:txBody>
      </p:sp>
      <p:grpSp>
        <p:nvGrpSpPr>
          <p:cNvPr id="28678" name="Group 19"/>
          <p:cNvGrpSpPr>
            <a:grpSpLocks/>
          </p:cNvGrpSpPr>
          <p:nvPr/>
        </p:nvGrpSpPr>
        <p:grpSpPr bwMode="auto">
          <a:xfrm>
            <a:off x="6705600" y="5867400"/>
            <a:ext cx="1143000" cy="304800"/>
            <a:chOff x="2448" y="3600"/>
            <a:chExt cx="1248" cy="336"/>
          </a:xfrm>
        </p:grpSpPr>
        <p:sp>
          <p:nvSpPr>
            <p:cNvPr id="28680" name="AutoShape 17" descr="浅色横线"/>
            <p:cNvSpPr>
              <a:spLocks noChangeArrowheads="1"/>
            </p:cNvSpPr>
            <p:nvPr/>
          </p:nvSpPr>
          <p:spPr bwMode="auto">
            <a:xfrm>
              <a:off x="2448" y="3600"/>
              <a:ext cx="1248" cy="336"/>
            </a:xfrm>
            <a:prstGeom prst="flowChartTerminator">
              <a:avLst/>
            </a:prstGeom>
            <a:pattFill prst="ltHorz">
              <a:fgClr>
                <a:schemeClr val="accent1"/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28681" name="Text Box 18"/>
            <p:cNvSpPr txBox="1">
              <a:spLocks noChangeArrowheads="1"/>
            </p:cNvSpPr>
            <p:nvPr/>
          </p:nvSpPr>
          <p:spPr bwMode="auto">
            <a:xfrm>
              <a:off x="2782" y="3600"/>
              <a:ext cx="578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000" b="1"/>
                <a:t>End</a:t>
              </a:r>
            </a:p>
          </p:txBody>
        </p:sp>
      </p:grpSp>
      <p:pic>
        <p:nvPicPr>
          <p:cNvPr id="28679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447800"/>
            <a:ext cx="7026275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716</TotalTime>
  <Words>1875</Words>
  <Application>Microsoft Office PowerPoint</Application>
  <PresentationFormat>全屏显示(4:3)</PresentationFormat>
  <Paragraphs>177</Paragraphs>
  <Slides>26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3" baseType="lpstr">
      <vt:lpstr>黑体</vt:lpstr>
      <vt:lpstr>宋体</vt:lpstr>
      <vt:lpstr>Arial</vt:lpstr>
      <vt:lpstr>Arial Black</vt:lpstr>
      <vt:lpstr>Times New Roman</vt:lpstr>
      <vt:lpstr>Wingdings</vt:lpstr>
      <vt:lpstr>Pixel</vt:lpstr>
      <vt:lpstr>Quartus使用指南   (基于原理图方式)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renguolin</dc:creator>
  <cp:lastModifiedBy>guolin</cp:lastModifiedBy>
  <cp:revision>36</cp:revision>
  <cp:lastPrinted>1601-01-01T00:00:00Z</cp:lastPrinted>
  <dcterms:created xsi:type="dcterms:W3CDTF">1601-01-01T00:00:00Z</dcterms:created>
  <dcterms:modified xsi:type="dcterms:W3CDTF">2025-02-27T15:50:11Z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